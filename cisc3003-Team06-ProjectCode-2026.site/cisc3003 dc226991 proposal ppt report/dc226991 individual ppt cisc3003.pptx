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DM Sans Bold" panose="02010600030101010101" charset="0"/>
      <p:regular r:id="rId16"/>
    </p:embeddedFont>
    <p:embeddedFont>
      <p:font typeface="Inter" panose="02010600030101010101" charset="0"/>
      <p:regular r:id="rId17"/>
    </p:embeddedFont>
    <p:embeddedFont>
      <p:font typeface="Retropix" panose="02010600030101010101"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432"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6.sv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9.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6.svg"/><Relationship Id="rId7" Type="http://schemas.openxmlformats.org/officeDocument/2006/relationships/image" Target="../media/image25.jpe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3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24.svg"/><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2571060" y="1716209"/>
            <a:ext cx="13776863" cy="7512553"/>
            <a:chOff x="0" y="0"/>
            <a:chExt cx="3628474" cy="1978615"/>
          </a:xfrm>
        </p:grpSpPr>
        <p:sp>
          <p:nvSpPr>
            <p:cNvPr id="4" name="Freeform 4"/>
            <p:cNvSpPr/>
            <p:nvPr/>
          </p:nvSpPr>
          <p:spPr>
            <a:xfrm>
              <a:off x="0" y="0"/>
              <a:ext cx="3628474" cy="1978615"/>
            </a:xfrm>
            <a:custGeom>
              <a:avLst/>
              <a:gdLst/>
              <a:ahLst/>
              <a:cxnLst/>
              <a:rect l="l" t="t" r="r" b="b"/>
              <a:pathLst>
                <a:path w="3628474" h="1978615">
                  <a:moveTo>
                    <a:pt x="0" y="0"/>
                  </a:moveTo>
                  <a:lnTo>
                    <a:pt x="3628474" y="0"/>
                  </a:lnTo>
                  <a:lnTo>
                    <a:pt x="3628474" y="1978615"/>
                  </a:lnTo>
                  <a:lnTo>
                    <a:pt x="0" y="1978615"/>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3628474" cy="20167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243817" y="1387224"/>
            <a:ext cx="13776863" cy="7512553"/>
            <a:chOff x="0" y="0"/>
            <a:chExt cx="3628474" cy="1978615"/>
          </a:xfrm>
        </p:grpSpPr>
        <p:sp>
          <p:nvSpPr>
            <p:cNvPr id="7" name="Freeform 7"/>
            <p:cNvSpPr/>
            <p:nvPr/>
          </p:nvSpPr>
          <p:spPr>
            <a:xfrm>
              <a:off x="0" y="0"/>
              <a:ext cx="3628474" cy="1978615"/>
            </a:xfrm>
            <a:custGeom>
              <a:avLst/>
              <a:gdLst/>
              <a:ahLst/>
              <a:cxnLst/>
              <a:rect l="l" t="t" r="r" b="b"/>
              <a:pathLst>
                <a:path w="3628474" h="1978615">
                  <a:moveTo>
                    <a:pt x="0" y="0"/>
                  </a:moveTo>
                  <a:lnTo>
                    <a:pt x="3628474" y="0"/>
                  </a:lnTo>
                  <a:lnTo>
                    <a:pt x="3628474" y="1978615"/>
                  </a:lnTo>
                  <a:lnTo>
                    <a:pt x="0" y="1978615"/>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3628474" cy="201671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701881">
            <a:off x="15325635" y="6007065"/>
            <a:ext cx="1752722" cy="2984512"/>
          </a:xfrm>
          <a:custGeom>
            <a:avLst/>
            <a:gdLst/>
            <a:ahLst/>
            <a:cxnLst/>
            <a:rect l="l" t="t" r="r" b="b"/>
            <a:pathLst>
              <a:path w="1752722" h="2984512">
                <a:moveTo>
                  <a:pt x="0" y="0"/>
                </a:moveTo>
                <a:lnTo>
                  <a:pt x="1752722" y="0"/>
                </a:lnTo>
                <a:lnTo>
                  <a:pt x="1752722" y="2984511"/>
                </a:lnTo>
                <a:lnTo>
                  <a:pt x="0" y="29845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TextBox 10"/>
          <p:cNvSpPr txBox="1"/>
          <p:nvPr/>
        </p:nvSpPr>
        <p:spPr>
          <a:xfrm>
            <a:off x="3299060" y="1734463"/>
            <a:ext cx="11689880" cy="6957547"/>
          </a:xfrm>
          <a:prstGeom prst="rect">
            <a:avLst/>
          </a:prstGeom>
        </p:spPr>
        <p:txBody>
          <a:bodyPr lIns="0" tIns="0" rIns="0" bIns="0" rtlCol="0" anchor="t">
            <a:spAutoFit/>
          </a:bodyPr>
          <a:lstStyle/>
          <a:p>
            <a:pPr algn="ctr">
              <a:lnSpc>
                <a:spcPts val="17291"/>
              </a:lnSpc>
            </a:pPr>
            <a:r>
              <a:rPr lang="en-US" sz="16313">
                <a:solidFill>
                  <a:srgbClr val="FFFFFF"/>
                </a:solidFill>
                <a:latin typeface="Retropix"/>
                <a:ea typeface="Retropix"/>
                <a:cs typeface="Retropix"/>
                <a:sym typeface="Retropix"/>
              </a:rPr>
              <a:t>TRAIN</a:t>
            </a:r>
          </a:p>
          <a:p>
            <a:pPr algn="ctr">
              <a:lnSpc>
                <a:spcPts val="17291"/>
              </a:lnSpc>
            </a:pPr>
            <a:r>
              <a:rPr lang="en-US" sz="16313">
                <a:solidFill>
                  <a:srgbClr val="FFFFFF"/>
                </a:solidFill>
                <a:latin typeface="Retropix"/>
                <a:ea typeface="Retropix"/>
                <a:cs typeface="Retropix"/>
                <a:sym typeface="Retropix"/>
              </a:rPr>
              <a:t>PAZZLE</a:t>
            </a:r>
          </a:p>
          <a:p>
            <a:pPr algn="ctr">
              <a:lnSpc>
                <a:spcPts val="17291"/>
              </a:lnSpc>
            </a:pPr>
            <a:r>
              <a:rPr lang="en-US" sz="16313">
                <a:solidFill>
                  <a:srgbClr val="FFFFFF"/>
                </a:solidFill>
                <a:latin typeface="Retropix"/>
                <a:ea typeface="Retropix"/>
                <a:cs typeface="Retropix"/>
                <a:sym typeface="Retropix"/>
              </a:rPr>
              <a:t>WEBSITE</a:t>
            </a:r>
          </a:p>
        </p:txBody>
      </p:sp>
      <p:sp>
        <p:nvSpPr>
          <p:cNvPr id="11" name="Freeform 11"/>
          <p:cNvSpPr/>
          <p:nvPr/>
        </p:nvSpPr>
        <p:spPr>
          <a:xfrm rot="-900275">
            <a:off x="584024" y="2216110"/>
            <a:ext cx="3319587" cy="2540993"/>
          </a:xfrm>
          <a:custGeom>
            <a:avLst/>
            <a:gdLst/>
            <a:ahLst/>
            <a:cxnLst/>
            <a:rect l="l" t="t" r="r" b="b"/>
            <a:pathLst>
              <a:path w="3319587" h="2540993">
                <a:moveTo>
                  <a:pt x="0" y="0"/>
                </a:moveTo>
                <a:lnTo>
                  <a:pt x="3319587" y="0"/>
                </a:lnTo>
                <a:lnTo>
                  <a:pt x="3319587" y="2540993"/>
                </a:lnTo>
                <a:lnTo>
                  <a:pt x="0" y="254099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Freeform 12"/>
          <p:cNvSpPr/>
          <p:nvPr/>
        </p:nvSpPr>
        <p:spPr>
          <a:xfrm rot="-842015">
            <a:off x="13039485" y="613000"/>
            <a:ext cx="2489634" cy="2408155"/>
          </a:xfrm>
          <a:custGeom>
            <a:avLst/>
            <a:gdLst/>
            <a:ahLst/>
            <a:cxnLst/>
            <a:rect l="l" t="t" r="r" b="b"/>
            <a:pathLst>
              <a:path w="2489634" h="2408155">
                <a:moveTo>
                  <a:pt x="0" y="0"/>
                </a:moveTo>
                <a:lnTo>
                  <a:pt x="2489634" y="0"/>
                </a:lnTo>
                <a:lnTo>
                  <a:pt x="2489634" y="2408155"/>
                </a:lnTo>
                <a:lnTo>
                  <a:pt x="0" y="24081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3" name="Freeform 13"/>
          <p:cNvSpPr/>
          <p:nvPr/>
        </p:nvSpPr>
        <p:spPr>
          <a:xfrm rot="-1237661">
            <a:off x="4370907" y="7434535"/>
            <a:ext cx="2493214" cy="2493214"/>
          </a:xfrm>
          <a:custGeom>
            <a:avLst/>
            <a:gdLst/>
            <a:ahLst/>
            <a:cxnLst/>
            <a:rect l="l" t="t" r="r" b="b"/>
            <a:pathLst>
              <a:path w="2493214" h="2493214">
                <a:moveTo>
                  <a:pt x="0" y="0"/>
                </a:moveTo>
                <a:lnTo>
                  <a:pt x="2493214" y="0"/>
                </a:lnTo>
                <a:lnTo>
                  <a:pt x="2493214" y="2493214"/>
                </a:lnTo>
                <a:lnTo>
                  <a:pt x="0" y="249321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14" name="Freeform 14"/>
          <p:cNvSpPr/>
          <p:nvPr/>
        </p:nvSpPr>
        <p:spPr>
          <a:xfrm rot="-10800000">
            <a:off x="-1697238" y="7144587"/>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15" name="Freeform 15"/>
          <p:cNvSpPr/>
          <p:nvPr/>
        </p:nvSpPr>
        <p:spPr>
          <a:xfrm rot="-10800000">
            <a:off x="16590762" y="1429370"/>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8652819" y="2188050"/>
            <a:ext cx="7695104" cy="6883432"/>
            <a:chOff x="0" y="0"/>
            <a:chExt cx="2026694" cy="1812920"/>
          </a:xfrm>
        </p:grpSpPr>
        <p:sp>
          <p:nvSpPr>
            <p:cNvPr id="4" name="Freeform 4"/>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324110" y="1873489"/>
            <a:ext cx="7695104" cy="6883432"/>
            <a:chOff x="0" y="0"/>
            <a:chExt cx="2026694" cy="1812920"/>
          </a:xfrm>
        </p:grpSpPr>
        <p:sp>
          <p:nvSpPr>
            <p:cNvPr id="7" name="Freeform 7"/>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235136" y="1312149"/>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7631269"/>
            <a:ext cx="3394476" cy="1857704"/>
          </a:xfrm>
          <a:custGeom>
            <a:avLst/>
            <a:gdLst/>
            <a:ahLst/>
            <a:cxnLst/>
            <a:rect l="l" t="t" r="r" b="b"/>
            <a:pathLst>
              <a:path w="3394476" h="1857704">
                <a:moveTo>
                  <a:pt x="0" y="0"/>
                </a:moveTo>
                <a:lnTo>
                  <a:pt x="3394476" y="0"/>
                </a:lnTo>
                <a:lnTo>
                  <a:pt x="3394476" y="1857703"/>
                </a:lnTo>
                <a:lnTo>
                  <a:pt x="0" y="18577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3093567" y="292563"/>
            <a:ext cx="1580926" cy="1580926"/>
          </a:xfrm>
          <a:custGeom>
            <a:avLst/>
            <a:gdLst/>
            <a:ahLst/>
            <a:cxnLst/>
            <a:rect l="l" t="t" r="r" b="b"/>
            <a:pathLst>
              <a:path w="1580926" h="1580926">
                <a:moveTo>
                  <a:pt x="0" y="0"/>
                </a:moveTo>
                <a:lnTo>
                  <a:pt x="1580927" y="0"/>
                </a:lnTo>
                <a:lnTo>
                  <a:pt x="1580927" y="1580926"/>
                </a:lnTo>
                <a:lnTo>
                  <a:pt x="0" y="15809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Freeform 12"/>
          <p:cNvSpPr/>
          <p:nvPr/>
        </p:nvSpPr>
        <p:spPr>
          <a:xfrm>
            <a:off x="462102" y="7460334"/>
            <a:ext cx="2631465" cy="2468793"/>
          </a:xfrm>
          <a:custGeom>
            <a:avLst/>
            <a:gdLst/>
            <a:ahLst/>
            <a:cxnLst/>
            <a:rect l="l" t="t" r="r" b="b"/>
            <a:pathLst>
              <a:path w="2631465" h="2468793">
                <a:moveTo>
                  <a:pt x="0" y="0"/>
                </a:moveTo>
                <a:lnTo>
                  <a:pt x="2631465" y="0"/>
                </a:lnTo>
                <a:lnTo>
                  <a:pt x="2631465" y="2468793"/>
                </a:lnTo>
                <a:lnTo>
                  <a:pt x="0" y="246879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3" name="TextBox 13"/>
          <p:cNvSpPr txBox="1"/>
          <p:nvPr/>
        </p:nvSpPr>
        <p:spPr>
          <a:xfrm>
            <a:off x="8488465" y="2849374"/>
            <a:ext cx="7366394" cy="4903088"/>
          </a:xfrm>
          <a:prstGeom prst="rect">
            <a:avLst/>
          </a:prstGeom>
        </p:spPr>
        <p:txBody>
          <a:bodyPr lIns="0" tIns="0" rIns="0" bIns="0" rtlCol="0" anchor="t">
            <a:spAutoFit/>
          </a:bodyPr>
          <a:lstStyle/>
          <a:p>
            <a:pPr algn="ctr">
              <a:lnSpc>
                <a:spcPts val="3013"/>
              </a:lnSpc>
            </a:pPr>
            <a:r>
              <a:rPr lang="en-US" sz="2282">
                <a:solidFill>
                  <a:srgbClr val="FFFFFF"/>
                </a:solidFill>
                <a:latin typeface="Inter"/>
                <a:ea typeface="Inter"/>
                <a:cs typeface="Inter"/>
                <a:sym typeface="Inter"/>
              </a:rPr>
              <a:t>This project report details the development process of a web application called "Train Track Mystery." This application is an advanced web game developed using full-stack technologies, designed to showcase the developers' sophisticated web development skills. The game seamlessly integrates front-end responsive design, back-end APIs, and secure database management. The webpage primarily uses a train puzzle game to help users experience the charm of focus and problem-solving in their leisure time, and to compare their scores with those of other players to identify areas for improvement in focus and problem-solving abilities.</a:t>
            </a:r>
          </a:p>
        </p:txBody>
      </p:sp>
      <p:sp>
        <p:nvSpPr>
          <p:cNvPr id="14" name="TextBox 14"/>
          <p:cNvSpPr txBox="1"/>
          <p:nvPr/>
        </p:nvSpPr>
        <p:spPr>
          <a:xfrm>
            <a:off x="2656442" y="3122228"/>
            <a:ext cx="4997773" cy="4338329"/>
          </a:xfrm>
          <a:prstGeom prst="rect">
            <a:avLst/>
          </a:prstGeom>
        </p:spPr>
        <p:txBody>
          <a:bodyPr lIns="0" tIns="0" rIns="0" bIns="0" rtlCol="0" anchor="t">
            <a:spAutoFit/>
          </a:bodyPr>
          <a:lstStyle/>
          <a:p>
            <a:pPr algn="l">
              <a:lnSpc>
                <a:spcPts val="8215"/>
              </a:lnSpc>
            </a:pPr>
            <a:r>
              <a:rPr lang="en-US" sz="7750">
                <a:solidFill>
                  <a:srgbClr val="000000"/>
                </a:solidFill>
                <a:latin typeface="Retropix"/>
                <a:ea typeface="Retropix"/>
                <a:cs typeface="Retropix"/>
                <a:sym typeface="Retropix"/>
              </a:rPr>
              <a:t>CONTEXT AND INTRODUTION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8652819" y="2188050"/>
            <a:ext cx="7695104" cy="6883432"/>
            <a:chOff x="0" y="0"/>
            <a:chExt cx="2026694" cy="1812920"/>
          </a:xfrm>
        </p:grpSpPr>
        <p:sp>
          <p:nvSpPr>
            <p:cNvPr id="4" name="Freeform 4"/>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324110" y="1873489"/>
            <a:ext cx="7695104" cy="6883432"/>
            <a:chOff x="0" y="0"/>
            <a:chExt cx="2026694" cy="1812920"/>
          </a:xfrm>
        </p:grpSpPr>
        <p:sp>
          <p:nvSpPr>
            <p:cNvPr id="7" name="Freeform 7"/>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235136" y="1312149"/>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7631269"/>
            <a:ext cx="3394476" cy="1857704"/>
          </a:xfrm>
          <a:custGeom>
            <a:avLst/>
            <a:gdLst/>
            <a:ahLst/>
            <a:cxnLst/>
            <a:rect l="l" t="t" r="r" b="b"/>
            <a:pathLst>
              <a:path w="3394476" h="1857704">
                <a:moveTo>
                  <a:pt x="0" y="0"/>
                </a:moveTo>
                <a:lnTo>
                  <a:pt x="3394476" y="0"/>
                </a:lnTo>
                <a:lnTo>
                  <a:pt x="3394476" y="1857703"/>
                </a:lnTo>
                <a:lnTo>
                  <a:pt x="0" y="18577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0" y="7734975"/>
            <a:ext cx="2946941" cy="3046650"/>
          </a:xfrm>
          <a:custGeom>
            <a:avLst/>
            <a:gdLst/>
            <a:ahLst/>
            <a:cxnLst/>
            <a:rect l="l" t="t" r="r" b="b"/>
            <a:pathLst>
              <a:path w="2946941" h="3046650">
                <a:moveTo>
                  <a:pt x="0" y="0"/>
                </a:moveTo>
                <a:lnTo>
                  <a:pt x="2946941" y="0"/>
                </a:lnTo>
                <a:lnTo>
                  <a:pt x="2946941" y="3046650"/>
                </a:lnTo>
                <a:lnTo>
                  <a:pt x="0" y="30466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TextBox 12"/>
          <p:cNvSpPr txBox="1"/>
          <p:nvPr/>
        </p:nvSpPr>
        <p:spPr>
          <a:xfrm>
            <a:off x="9273394" y="3222380"/>
            <a:ext cx="5546540" cy="4078126"/>
          </a:xfrm>
          <a:prstGeom prst="rect">
            <a:avLst/>
          </a:prstGeom>
        </p:spPr>
        <p:txBody>
          <a:bodyPr lIns="0" tIns="0" rIns="0" bIns="0" rtlCol="0" anchor="t">
            <a:spAutoFit/>
          </a:bodyPr>
          <a:lstStyle/>
          <a:p>
            <a:pPr algn="ctr">
              <a:lnSpc>
                <a:spcPts val="6521"/>
              </a:lnSpc>
            </a:pPr>
            <a:r>
              <a:rPr lang="en-US" sz="4940">
                <a:solidFill>
                  <a:srgbClr val="FFFFFF"/>
                </a:solidFill>
                <a:latin typeface="Inter"/>
                <a:ea typeface="Inter"/>
                <a:cs typeface="Inter"/>
                <a:sym typeface="Inter"/>
              </a:rPr>
              <a:t>Responsible for main page designing and login system Programing</a:t>
            </a:r>
          </a:p>
        </p:txBody>
      </p:sp>
      <p:sp>
        <p:nvSpPr>
          <p:cNvPr id="13" name="Freeform 13"/>
          <p:cNvSpPr/>
          <p:nvPr/>
        </p:nvSpPr>
        <p:spPr>
          <a:xfrm>
            <a:off x="3824947" y="2188050"/>
            <a:ext cx="2833556" cy="3778075"/>
          </a:xfrm>
          <a:custGeom>
            <a:avLst/>
            <a:gdLst/>
            <a:ahLst/>
            <a:cxnLst/>
            <a:rect l="l" t="t" r="r" b="b"/>
            <a:pathLst>
              <a:path w="2833556" h="3778075">
                <a:moveTo>
                  <a:pt x="0" y="0"/>
                </a:moveTo>
                <a:lnTo>
                  <a:pt x="2833556" y="0"/>
                </a:lnTo>
                <a:lnTo>
                  <a:pt x="2833556" y="3778075"/>
                </a:lnTo>
                <a:lnTo>
                  <a:pt x="0" y="3778075"/>
                </a:lnTo>
                <a:lnTo>
                  <a:pt x="0" y="0"/>
                </a:lnTo>
                <a:close/>
              </a:path>
            </a:pathLst>
          </a:custGeom>
          <a:blipFill>
            <a:blip r:embed="rId5"/>
            <a:stretch>
              <a:fillRect/>
            </a:stretch>
          </a:blipFill>
        </p:spPr>
        <p:txBody>
          <a:bodyPr/>
          <a:lstStyle/>
          <a:p>
            <a:endParaRPr lang="zh-CN" altLang="en-US"/>
          </a:p>
        </p:txBody>
      </p:sp>
      <p:sp>
        <p:nvSpPr>
          <p:cNvPr id="14" name="TextBox 14"/>
          <p:cNvSpPr txBox="1"/>
          <p:nvPr/>
        </p:nvSpPr>
        <p:spPr>
          <a:xfrm>
            <a:off x="3088212" y="6298242"/>
            <a:ext cx="4997773" cy="2261879"/>
          </a:xfrm>
          <a:prstGeom prst="rect">
            <a:avLst/>
          </a:prstGeom>
        </p:spPr>
        <p:txBody>
          <a:bodyPr lIns="0" tIns="0" rIns="0" bIns="0" rtlCol="0" anchor="t">
            <a:spAutoFit/>
          </a:bodyPr>
          <a:lstStyle/>
          <a:p>
            <a:pPr algn="l">
              <a:lnSpc>
                <a:spcPts val="8215"/>
              </a:lnSpc>
            </a:pPr>
            <a:r>
              <a:rPr lang="en-US" sz="7750">
                <a:solidFill>
                  <a:srgbClr val="000000"/>
                </a:solidFill>
                <a:latin typeface="Retropix"/>
                <a:ea typeface="Retropix"/>
                <a:cs typeface="Retropix"/>
                <a:sym typeface="Retropix"/>
              </a:rPr>
              <a:t>JOHN DC226991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2571060" y="1716209"/>
            <a:ext cx="13776863" cy="7512553"/>
            <a:chOff x="0" y="0"/>
            <a:chExt cx="3628474" cy="1978615"/>
          </a:xfrm>
        </p:grpSpPr>
        <p:sp>
          <p:nvSpPr>
            <p:cNvPr id="4" name="Freeform 4"/>
            <p:cNvSpPr/>
            <p:nvPr/>
          </p:nvSpPr>
          <p:spPr>
            <a:xfrm>
              <a:off x="0" y="0"/>
              <a:ext cx="3628474" cy="1978615"/>
            </a:xfrm>
            <a:custGeom>
              <a:avLst/>
              <a:gdLst/>
              <a:ahLst/>
              <a:cxnLst/>
              <a:rect l="l" t="t" r="r" b="b"/>
              <a:pathLst>
                <a:path w="3628474" h="1978615">
                  <a:moveTo>
                    <a:pt x="0" y="0"/>
                  </a:moveTo>
                  <a:lnTo>
                    <a:pt x="3628474" y="0"/>
                  </a:lnTo>
                  <a:lnTo>
                    <a:pt x="3628474" y="1978615"/>
                  </a:lnTo>
                  <a:lnTo>
                    <a:pt x="0" y="1978615"/>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3628474" cy="20167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243817" y="1387224"/>
            <a:ext cx="13776863" cy="7512553"/>
            <a:chOff x="0" y="0"/>
            <a:chExt cx="3628474" cy="1978615"/>
          </a:xfrm>
        </p:grpSpPr>
        <p:sp>
          <p:nvSpPr>
            <p:cNvPr id="7" name="Freeform 7"/>
            <p:cNvSpPr/>
            <p:nvPr/>
          </p:nvSpPr>
          <p:spPr>
            <a:xfrm>
              <a:off x="0" y="0"/>
              <a:ext cx="3628474" cy="1978615"/>
            </a:xfrm>
            <a:custGeom>
              <a:avLst/>
              <a:gdLst/>
              <a:ahLst/>
              <a:cxnLst/>
              <a:rect l="l" t="t" r="r" b="b"/>
              <a:pathLst>
                <a:path w="3628474" h="1978615">
                  <a:moveTo>
                    <a:pt x="0" y="0"/>
                  </a:moveTo>
                  <a:lnTo>
                    <a:pt x="3628474" y="0"/>
                  </a:lnTo>
                  <a:lnTo>
                    <a:pt x="3628474" y="1978615"/>
                  </a:lnTo>
                  <a:lnTo>
                    <a:pt x="0" y="1978615"/>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3628474" cy="201671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697238" y="7144587"/>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1429370"/>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rot="-803892">
            <a:off x="57777" y="181093"/>
            <a:ext cx="3278922" cy="3183535"/>
          </a:xfrm>
          <a:custGeom>
            <a:avLst/>
            <a:gdLst/>
            <a:ahLst/>
            <a:cxnLst/>
            <a:rect l="l" t="t" r="r" b="b"/>
            <a:pathLst>
              <a:path w="3278922" h="3183535">
                <a:moveTo>
                  <a:pt x="0" y="0"/>
                </a:moveTo>
                <a:lnTo>
                  <a:pt x="3278922" y="0"/>
                </a:lnTo>
                <a:lnTo>
                  <a:pt x="3278922" y="3183534"/>
                </a:lnTo>
                <a:lnTo>
                  <a:pt x="0" y="31835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Freeform 12"/>
          <p:cNvSpPr/>
          <p:nvPr/>
        </p:nvSpPr>
        <p:spPr>
          <a:xfrm>
            <a:off x="15352777" y="7015020"/>
            <a:ext cx="2935223" cy="2935223"/>
          </a:xfrm>
          <a:custGeom>
            <a:avLst/>
            <a:gdLst/>
            <a:ahLst/>
            <a:cxnLst/>
            <a:rect l="l" t="t" r="r" b="b"/>
            <a:pathLst>
              <a:path w="2935223" h="2935223">
                <a:moveTo>
                  <a:pt x="0" y="0"/>
                </a:moveTo>
                <a:lnTo>
                  <a:pt x="2935223" y="0"/>
                </a:lnTo>
                <a:lnTo>
                  <a:pt x="2935223" y="2935223"/>
                </a:lnTo>
                <a:lnTo>
                  <a:pt x="0" y="293522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3" name="Freeform 13"/>
          <p:cNvSpPr/>
          <p:nvPr/>
        </p:nvSpPr>
        <p:spPr>
          <a:xfrm>
            <a:off x="2752529" y="3287074"/>
            <a:ext cx="7117634" cy="3950287"/>
          </a:xfrm>
          <a:custGeom>
            <a:avLst/>
            <a:gdLst/>
            <a:ahLst/>
            <a:cxnLst/>
            <a:rect l="l" t="t" r="r" b="b"/>
            <a:pathLst>
              <a:path w="7117634" h="3950287">
                <a:moveTo>
                  <a:pt x="0" y="0"/>
                </a:moveTo>
                <a:lnTo>
                  <a:pt x="7117634" y="0"/>
                </a:lnTo>
                <a:lnTo>
                  <a:pt x="7117634" y="3950287"/>
                </a:lnTo>
                <a:lnTo>
                  <a:pt x="0" y="3950287"/>
                </a:lnTo>
                <a:lnTo>
                  <a:pt x="0" y="0"/>
                </a:lnTo>
                <a:close/>
              </a:path>
            </a:pathLst>
          </a:custGeom>
          <a:blipFill>
            <a:blip r:embed="rId6"/>
            <a:stretch>
              <a:fillRect/>
            </a:stretch>
          </a:blipFill>
        </p:spPr>
        <p:txBody>
          <a:bodyPr/>
          <a:lstStyle/>
          <a:p>
            <a:endParaRPr lang="zh-CN" altLang="en-US"/>
          </a:p>
        </p:txBody>
      </p:sp>
      <p:sp>
        <p:nvSpPr>
          <p:cNvPr id="14" name="TextBox 14"/>
          <p:cNvSpPr txBox="1"/>
          <p:nvPr/>
        </p:nvSpPr>
        <p:spPr>
          <a:xfrm>
            <a:off x="10018368" y="2320122"/>
            <a:ext cx="5800681" cy="6117175"/>
          </a:xfrm>
          <a:prstGeom prst="rect">
            <a:avLst/>
          </a:prstGeom>
        </p:spPr>
        <p:txBody>
          <a:bodyPr lIns="0" tIns="0" rIns="0" bIns="0" rtlCol="0" anchor="t">
            <a:spAutoFit/>
          </a:bodyPr>
          <a:lstStyle/>
          <a:p>
            <a:pPr algn="ctr">
              <a:lnSpc>
                <a:spcPts val="4073"/>
              </a:lnSpc>
            </a:pPr>
            <a:r>
              <a:rPr lang="en-US" sz="3085">
                <a:solidFill>
                  <a:srgbClr val="FFFFFF"/>
                </a:solidFill>
                <a:latin typeface="Inter"/>
                <a:ea typeface="Inter"/>
                <a:cs typeface="Inter"/>
                <a:sym typeface="Inter"/>
              </a:rPr>
              <a:t>"This is the homepage of our train puzzle game website. The overall design is simple and intuitive, allowing players to quickly choose to log in or directly experience the game. The homepage highlights the game theme and provides clear navigation, enabling users to understand the website's functions and goals at a glance."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8652819" y="2188050"/>
            <a:ext cx="7695104" cy="6883432"/>
            <a:chOff x="0" y="0"/>
            <a:chExt cx="2026694" cy="1812920"/>
          </a:xfrm>
        </p:grpSpPr>
        <p:sp>
          <p:nvSpPr>
            <p:cNvPr id="4" name="Freeform 4"/>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324110" y="1873489"/>
            <a:ext cx="7695104" cy="6883432"/>
            <a:chOff x="0" y="0"/>
            <a:chExt cx="2026694" cy="1812920"/>
          </a:xfrm>
        </p:grpSpPr>
        <p:sp>
          <p:nvSpPr>
            <p:cNvPr id="7" name="Freeform 7"/>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6558564" y="796348"/>
            <a:ext cx="2783403" cy="2783403"/>
          </a:xfrm>
          <a:custGeom>
            <a:avLst/>
            <a:gdLst/>
            <a:ahLst/>
            <a:cxnLst/>
            <a:rect l="l" t="t" r="r" b="b"/>
            <a:pathLst>
              <a:path w="2783403" h="2783403">
                <a:moveTo>
                  <a:pt x="0" y="0"/>
                </a:moveTo>
                <a:lnTo>
                  <a:pt x="2783403" y="0"/>
                </a:lnTo>
                <a:lnTo>
                  <a:pt x="2783403" y="2783403"/>
                </a:lnTo>
                <a:lnTo>
                  <a:pt x="0" y="27834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a:off x="872728" y="7865064"/>
            <a:ext cx="1783714" cy="1783714"/>
          </a:xfrm>
          <a:custGeom>
            <a:avLst/>
            <a:gdLst/>
            <a:ahLst/>
            <a:cxnLst/>
            <a:rect l="l" t="t" r="r" b="b"/>
            <a:pathLst>
              <a:path w="1783714" h="1783714">
                <a:moveTo>
                  <a:pt x="0" y="0"/>
                </a:moveTo>
                <a:lnTo>
                  <a:pt x="1783714" y="0"/>
                </a:lnTo>
                <a:lnTo>
                  <a:pt x="1783714" y="1783714"/>
                </a:lnTo>
                <a:lnTo>
                  <a:pt x="0" y="178371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1" name="Freeform 11"/>
          <p:cNvSpPr/>
          <p:nvPr/>
        </p:nvSpPr>
        <p:spPr>
          <a:xfrm rot="-10800000">
            <a:off x="-1235136" y="1312149"/>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2" name="Freeform 12"/>
          <p:cNvSpPr/>
          <p:nvPr/>
        </p:nvSpPr>
        <p:spPr>
          <a:xfrm rot="-10800000">
            <a:off x="16590762" y="7631269"/>
            <a:ext cx="3394476" cy="1857704"/>
          </a:xfrm>
          <a:custGeom>
            <a:avLst/>
            <a:gdLst/>
            <a:ahLst/>
            <a:cxnLst/>
            <a:rect l="l" t="t" r="r" b="b"/>
            <a:pathLst>
              <a:path w="3394476" h="1857704">
                <a:moveTo>
                  <a:pt x="0" y="0"/>
                </a:moveTo>
                <a:lnTo>
                  <a:pt x="3394476" y="0"/>
                </a:lnTo>
                <a:lnTo>
                  <a:pt x="3394476" y="1857703"/>
                </a:lnTo>
                <a:lnTo>
                  <a:pt x="0" y="18577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3" name="Freeform 13"/>
          <p:cNvSpPr/>
          <p:nvPr/>
        </p:nvSpPr>
        <p:spPr>
          <a:xfrm>
            <a:off x="1152843" y="3850188"/>
            <a:ext cx="6797422" cy="5429441"/>
          </a:xfrm>
          <a:custGeom>
            <a:avLst/>
            <a:gdLst/>
            <a:ahLst/>
            <a:cxnLst/>
            <a:rect l="l" t="t" r="r" b="b"/>
            <a:pathLst>
              <a:path w="6797422" h="5429441">
                <a:moveTo>
                  <a:pt x="0" y="0"/>
                </a:moveTo>
                <a:lnTo>
                  <a:pt x="6797422" y="0"/>
                </a:lnTo>
                <a:lnTo>
                  <a:pt x="6797422" y="5429441"/>
                </a:lnTo>
                <a:lnTo>
                  <a:pt x="0" y="5429441"/>
                </a:lnTo>
                <a:lnTo>
                  <a:pt x="0" y="0"/>
                </a:lnTo>
                <a:close/>
              </a:path>
            </a:pathLst>
          </a:custGeom>
          <a:blipFill>
            <a:blip r:embed="rId6"/>
            <a:stretch>
              <a:fillRect/>
            </a:stretch>
          </a:blipFill>
        </p:spPr>
        <p:txBody>
          <a:bodyPr/>
          <a:lstStyle/>
          <a:p>
            <a:endParaRPr lang="zh-CN" altLang="en-US"/>
          </a:p>
        </p:txBody>
      </p:sp>
      <p:sp>
        <p:nvSpPr>
          <p:cNvPr id="14" name="TextBox 14"/>
          <p:cNvSpPr txBox="1"/>
          <p:nvPr/>
        </p:nvSpPr>
        <p:spPr>
          <a:xfrm>
            <a:off x="9595095" y="2526720"/>
            <a:ext cx="5810552" cy="5548396"/>
          </a:xfrm>
          <a:prstGeom prst="rect">
            <a:avLst/>
          </a:prstGeom>
        </p:spPr>
        <p:txBody>
          <a:bodyPr lIns="0" tIns="0" rIns="0" bIns="0" rtlCol="0" anchor="t">
            <a:spAutoFit/>
          </a:bodyPr>
          <a:lstStyle/>
          <a:p>
            <a:pPr algn="ctr">
              <a:lnSpc>
                <a:spcPts val="3698"/>
              </a:lnSpc>
            </a:pPr>
            <a:r>
              <a:rPr lang="en-US" sz="2801">
                <a:solidFill>
                  <a:srgbClr val="FFFFFF"/>
                </a:solidFill>
                <a:latin typeface="Inter"/>
                <a:ea typeface="Inter"/>
                <a:cs typeface="Inter"/>
                <a:sym typeface="Inter"/>
              </a:rPr>
              <a:t>The website offers a secure login system. Players can enter the game using their account and password. The system supports password retrieval and identity verification to ensure data security. After logging in, players' game progress and scores are automatically linked to their personal accounts, allowing them to continue challenging themselves at any time.</a:t>
            </a:r>
          </a:p>
        </p:txBody>
      </p:sp>
      <p:sp>
        <p:nvSpPr>
          <p:cNvPr id="15" name="TextBox 15"/>
          <p:cNvSpPr txBox="1"/>
          <p:nvPr/>
        </p:nvSpPr>
        <p:spPr>
          <a:xfrm>
            <a:off x="2656442" y="371843"/>
            <a:ext cx="4007167" cy="3478346"/>
          </a:xfrm>
          <a:prstGeom prst="rect">
            <a:avLst/>
          </a:prstGeom>
        </p:spPr>
        <p:txBody>
          <a:bodyPr lIns="0" tIns="0" rIns="0" bIns="0" rtlCol="0" anchor="t">
            <a:spAutoFit/>
          </a:bodyPr>
          <a:lstStyle/>
          <a:p>
            <a:pPr algn="l">
              <a:lnSpc>
                <a:spcPts val="6587"/>
              </a:lnSpc>
            </a:pPr>
            <a:r>
              <a:rPr lang="en-US" sz="6214">
                <a:solidFill>
                  <a:srgbClr val="000000"/>
                </a:solidFill>
                <a:latin typeface="Retropix"/>
                <a:ea typeface="Retropix"/>
                <a:cs typeface="Retropix"/>
                <a:sym typeface="Retropix"/>
              </a:rPr>
              <a:t>PIXEL DETAILS WITH PURPOSE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8652819" y="2188050"/>
            <a:ext cx="7695104" cy="6883432"/>
            <a:chOff x="0" y="0"/>
            <a:chExt cx="2026694" cy="1812920"/>
          </a:xfrm>
        </p:grpSpPr>
        <p:sp>
          <p:nvSpPr>
            <p:cNvPr id="4" name="Freeform 4"/>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324110" y="1873489"/>
            <a:ext cx="7695104" cy="6883432"/>
            <a:chOff x="0" y="0"/>
            <a:chExt cx="2026694" cy="1812920"/>
          </a:xfrm>
        </p:grpSpPr>
        <p:sp>
          <p:nvSpPr>
            <p:cNvPr id="7" name="Freeform 7"/>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235136" y="1312149"/>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7631269"/>
            <a:ext cx="3394476" cy="1857704"/>
          </a:xfrm>
          <a:custGeom>
            <a:avLst/>
            <a:gdLst/>
            <a:ahLst/>
            <a:cxnLst/>
            <a:rect l="l" t="t" r="r" b="b"/>
            <a:pathLst>
              <a:path w="3394476" h="1857704">
                <a:moveTo>
                  <a:pt x="0" y="0"/>
                </a:moveTo>
                <a:lnTo>
                  <a:pt x="3394476" y="0"/>
                </a:lnTo>
                <a:lnTo>
                  <a:pt x="3394476" y="1857703"/>
                </a:lnTo>
                <a:lnTo>
                  <a:pt x="0" y="18577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444771" y="7734975"/>
            <a:ext cx="2946941" cy="3046650"/>
          </a:xfrm>
          <a:custGeom>
            <a:avLst/>
            <a:gdLst/>
            <a:ahLst/>
            <a:cxnLst/>
            <a:rect l="l" t="t" r="r" b="b"/>
            <a:pathLst>
              <a:path w="2946941" h="3046650">
                <a:moveTo>
                  <a:pt x="0" y="0"/>
                </a:moveTo>
                <a:lnTo>
                  <a:pt x="2946942" y="0"/>
                </a:lnTo>
                <a:lnTo>
                  <a:pt x="2946942" y="3046650"/>
                </a:lnTo>
                <a:lnTo>
                  <a:pt x="0" y="30466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TextBox 12"/>
          <p:cNvSpPr txBox="1"/>
          <p:nvPr/>
        </p:nvSpPr>
        <p:spPr>
          <a:xfrm>
            <a:off x="9273394" y="3222380"/>
            <a:ext cx="5546540" cy="2443428"/>
          </a:xfrm>
          <a:prstGeom prst="rect">
            <a:avLst/>
          </a:prstGeom>
        </p:spPr>
        <p:txBody>
          <a:bodyPr lIns="0" tIns="0" rIns="0" bIns="0" rtlCol="0" anchor="t">
            <a:spAutoFit/>
          </a:bodyPr>
          <a:lstStyle/>
          <a:p>
            <a:pPr algn="ctr">
              <a:lnSpc>
                <a:spcPts val="6521"/>
              </a:lnSpc>
            </a:pPr>
            <a:r>
              <a:rPr lang="en-US" sz="4940">
                <a:solidFill>
                  <a:srgbClr val="FFFFFF"/>
                </a:solidFill>
                <a:latin typeface="Inter"/>
                <a:ea typeface="Inter"/>
                <a:cs typeface="Inter"/>
                <a:sym typeface="Inter"/>
              </a:rPr>
              <a:t>Responsible for Game machanism and Report writing</a:t>
            </a:r>
          </a:p>
        </p:txBody>
      </p:sp>
      <p:sp>
        <p:nvSpPr>
          <p:cNvPr id="13" name="Freeform 13"/>
          <p:cNvSpPr/>
          <p:nvPr/>
        </p:nvSpPr>
        <p:spPr>
          <a:xfrm>
            <a:off x="2849985" y="6140705"/>
            <a:ext cx="2899674" cy="3866232"/>
          </a:xfrm>
          <a:custGeom>
            <a:avLst/>
            <a:gdLst/>
            <a:ahLst/>
            <a:cxnLst/>
            <a:rect l="l" t="t" r="r" b="b"/>
            <a:pathLst>
              <a:path w="2899674" h="3866232">
                <a:moveTo>
                  <a:pt x="0" y="0"/>
                </a:moveTo>
                <a:lnTo>
                  <a:pt x="2899674" y="0"/>
                </a:lnTo>
                <a:lnTo>
                  <a:pt x="2899674" y="3866232"/>
                </a:lnTo>
                <a:lnTo>
                  <a:pt x="0" y="3866232"/>
                </a:lnTo>
                <a:lnTo>
                  <a:pt x="0" y="0"/>
                </a:lnTo>
                <a:close/>
              </a:path>
            </a:pathLst>
          </a:custGeom>
          <a:blipFill>
            <a:blip r:embed="rId5"/>
            <a:stretch>
              <a:fillRect/>
            </a:stretch>
          </a:blipFill>
        </p:spPr>
        <p:txBody>
          <a:bodyPr/>
          <a:lstStyle/>
          <a:p>
            <a:endParaRPr lang="zh-CN" altLang="en-US"/>
          </a:p>
        </p:txBody>
      </p:sp>
      <p:sp>
        <p:nvSpPr>
          <p:cNvPr id="14" name="Freeform 14"/>
          <p:cNvSpPr/>
          <p:nvPr/>
        </p:nvSpPr>
        <p:spPr>
          <a:xfrm>
            <a:off x="2924934" y="1159913"/>
            <a:ext cx="2824725" cy="3983587"/>
          </a:xfrm>
          <a:custGeom>
            <a:avLst/>
            <a:gdLst/>
            <a:ahLst/>
            <a:cxnLst/>
            <a:rect l="l" t="t" r="r" b="b"/>
            <a:pathLst>
              <a:path w="2824725" h="3983587">
                <a:moveTo>
                  <a:pt x="0" y="0"/>
                </a:moveTo>
                <a:lnTo>
                  <a:pt x="2824725" y="0"/>
                </a:lnTo>
                <a:lnTo>
                  <a:pt x="2824725" y="3983587"/>
                </a:lnTo>
                <a:lnTo>
                  <a:pt x="0" y="3983587"/>
                </a:lnTo>
                <a:lnTo>
                  <a:pt x="0" y="0"/>
                </a:lnTo>
                <a:close/>
              </a:path>
            </a:pathLst>
          </a:custGeom>
          <a:blipFill>
            <a:blip r:embed="rId6"/>
            <a:stretch>
              <a:fillRect/>
            </a:stretch>
          </a:blipFill>
        </p:spPr>
        <p:txBody>
          <a:bodyPr/>
          <a:lstStyle/>
          <a:p>
            <a:endParaRPr lang="zh-CN" altLang="en-US"/>
          </a:p>
        </p:txBody>
      </p:sp>
      <p:sp>
        <p:nvSpPr>
          <p:cNvPr id="15" name="Freeform 15"/>
          <p:cNvSpPr/>
          <p:nvPr/>
        </p:nvSpPr>
        <p:spPr>
          <a:xfrm>
            <a:off x="6187809" y="2241001"/>
            <a:ext cx="972136" cy="972136"/>
          </a:xfrm>
          <a:custGeom>
            <a:avLst/>
            <a:gdLst/>
            <a:ahLst/>
            <a:cxnLst/>
            <a:rect l="l" t="t" r="r" b="b"/>
            <a:pathLst>
              <a:path w="972136" h="972136">
                <a:moveTo>
                  <a:pt x="0" y="0"/>
                </a:moveTo>
                <a:lnTo>
                  <a:pt x="972136" y="0"/>
                </a:lnTo>
                <a:lnTo>
                  <a:pt x="972136" y="972136"/>
                </a:lnTo>
                <a:lnTo>
                  <a:pt x="0" y="97213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16" name="Freeform 16"/>
          <p:cNvSpPr/>
          <p:nvPr/>
        </p:nvSpPr>
        <p:spPr>
          <a:xfrm>
            <a:off x="6001300" y="6140705"/>
            <a:ext cx="972136" cy="972136"/>
          </a:xfrm>
          <a:custGeom>
            <a:avLst/>
            <a:gdLst/>
            <a:ahLst/>
            <a:cxnLst/>
            <a:rect l="l" t="t" r="r" b="b"/>
            <a:pathLst>
              <a:path w="972136" h="972136">
                <a:moveTo>
                  <a:pt x="0" y="0"/>
                </a:moveTo>
                <a:lnTo>
                  <a:pt x="972136" y="0"/>
                </a:lnTo>
                <a:lnTo>
                  <a:pt x="972136" y="972136"/>
                </a:lnTo>
                <a:lnTo>
                  <a:pt x="0" y="97213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zh-CN" altLang="en-US"/>
          </a:p>
        </p:txBody>
      </p:sp>
      <p:sp>
        <p:nvSpPr>
          <p:cNvPr id="17" name="TextBox 17"/>
          <p:cNvSpPr txBox="1"/>
          <p:nvPr/>
        </p:nvSpPr>
        <p:spPr>
          <a:xfrm>
            <a:off x="2946941" y="5267580"/>
            <a:ext cx="2161936" cy="701675"/>
          </a:xfrm>
          <a:prstGeom prst="rect">
            <a:avLst/>
          </a:prstGeom>
        </p:spPr>
        <p:txBody>
          <a:bodyPr lIns="0" tIns="0" rIns="0" bIns="0" rtlCol="0" anchor="t">
            <a:spAutoFit/>
          </a:bodyPr>
          <a:lstStyle/>
          <a:p>
            <a:pPr algn="l">
              <a:lnSpc>
                <a:spcPts val="2800"/>
              </a:lnSpc>
            </a:pPr>
            <a:r>
              <a:rPr lang="en-US" sz="2000" b="1">
                <a:solidFill>
                  <a:srgbClr val="343434"/>
                </a:solidFill>
                <a:latin typeface="DM Sans Bold"/>
                <a:ea typeface="DM Sans Bold"/>
                <a:cs typeface="DM Sans Bold"/>
                <a:sym typeface="DM Sans Bold"/>
              </a:rPr>
              <a:t>XU WUSIYUAN</a:t>
            </a:r>
          </a:p>
          <a:p>
            <a:pPr algn="l">
              <a:lnSpc>
                <a:spcPts val="2800"/>
              </a:lnSpc>
            </a:pPr>
            <a:r>
              <a:rPr lang="en-US" sz="2000" b="1">
                <a:solidFill>
                  <a:srgbClr val="343434"/>
                </a:solidFill>
                <a:latin typeface="DM Sans Bold"/>
                <a:ea typeface="DM Sans Bold"/>
                <a:cs typeface="DM Sans Bold"/>
                <a:sym typeface="DM Sans Bold"/>
              </a:rPr>
              <a:t>(BRUCE)</a:t>
            </a:r>
          </a:p>
        </p:txBody>
      </p:sp>
      <p:sp>
        <p:nvSpPr>
          <p:cNvPr id="18" name="TextBox 18"/>
          <p:cNvSpPr txBox="1"/>
          <p:nvPr/>
        </p:nvSpPr>
        <p:spPr>
          <a:xfrm>
            <a:off x="6187809" y="9210675"/>
            <a:ext cx="2263867" cy="701675"/>
          </a:xfrm>
          <a:prstGeom prst="rect">
            <a:avLst/>
          </a:prstGeom>
        </p:spPr>
        <p:txBody>
          <a:bodyPr lIns="0" tIns="0" rIns="0" bIns="0" rtlCol="0" anchor="t">
            <a:spAutoFit/>
          </a:bodyPr>
          <a:lstStyle/>
          <a:p>
            <a:pPr algn="l">
              <a:lnSpc>
                <a:spcPts val="2800"/>
              </a:lnSpc>
            </a:pPr>
            <a:r>
              <a:rPr lang="en-US" sz="2000" b="1">
                <a:solidFill>
                  <a:srgbClr val="343434"/>
                </a:solidFill>
                <a:latin typeface="DM Sans Bold"/>
                <a:ea typeface="DM Sans Bold"/>
                <a:cs typeface="DM Sans Bold"/>
                <a:sym typeface="DM Sans Bold"/>
              </a:rPr>
              <a:t>CHAN HIO TOU</a:t>
            </a:r>
          </a:p>
          <a:p>
            <a:pPr marL="0" lvl="0" indent="0" algn="l">
              <a:lnSpc>
                <a:spcPts val="2800"/>
              </a:lnSpc>
              <a:spcBef>
                <a:spcPct val="0"/>
              </a:spcBef>
            </a:pPr>
            <a:r>
              <a:rPr lang="en-US" sz="2000" b="1">
                <a:solidFill>
                  <a:srgbClr val="343434"/>
                </a:solidFill>
                <a:latin typeface="DM Sans Bold"/>
                <a:ea typeface="DM Sans Bold"/>
                <a:cs typeface="DM Sans Bold"/>
                <a:sym typeface="DM Sans Bold"/>
              </a:rPr>
              <a:t>(COLLINS)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1863419" y="5205165"/>
            <a:ext cx="7609905" cy="3879219"/>
            <a:chOff x="0" y="0"/>
            <a:chExt cx="2004255" cy="1021687"/>
          </a:xfrm>
        </p:grpSpPr>
        <p:sp>
          <p:nvSpPr>
            <p:cNvPr id="4" name="Freeform 4"/>
            <p:cNvSpPr/>
            <p:nvPr/>
          </p:nvSpPr>
          <p:spPr>
            <a:xfrm>
              <a:off x="0" y="0"/>
              <a:ext cx="2004255" cy="1021687"/>
            </a:xfrm>
            <a:custGeom>
              <a:avLst/>
              <a:gdLst/>
              <a:ahLst/>
              <a:cxnLst/>
              <a:rect l="l" t="t" r="r" b="b"/>
              <a:pathLst>
                <a:path w="2004255" h="1021687">
                  <a:moveTo>
                    <a:pt x="0" y="0"/>
                  </a:moveTo>
                  <a:lnTo>
                    <a:pt x="2004255" y="0"/>
                  </a:lnTo>
                  <a:lnTo>
                    <a:pt x="2004255" y="1021687"/>
                  </a:lnTo>
                  <a:lnTo>
                    <a:pt x="0" y="1021687"/>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2004255" cy="1059787"/>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473217" y="4911117"/>
            <a:ext cx="7670783" cy="3815494"/>
            <a:chOff x="0" y="0"/>
            <a:chExt cx="2020288" cy="1004904"/>
          </a:xfrm>
        </p:grpSpPr>
        <p:sp>
          <p:nvSpPr>
            <p:cNvPr id="7" name="Freeform 7"/>
            <p:cNvSpPr/>
            <p:nvPr/>
          </p:nvSpPr>
          <p:spPr>
            <a:xfrm>
              <a:off x="0" y="0"/>
              <a:ext cx="2020289" cy="1004904"/>
            </a:xfrm>
            <a:custGeom>
              <a:avLst/>
              <a:gdLst/>
              <a:ahLst/>
              <a:cxnLst/>
              <a:rect l="l" t="t" r="r" b="b"/>
              <a:pathLst>
                <a:path w="2020289" h="1004904">
                  <a:moveTo>
                    <a:pt x="0" y="0"/>
                  </a:moveTo>
                  <a:lnTo>
                    <a:pt x="2020289" y="0"/>
                  </a:lnTo>
                  <a:lnTo>
                    <a:pt x="2020289" y="1004904"/>
                  </a:lnTo>
                  <a:lnTo>
                    <a:pt x="0" y="1004904"/>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2020288" cy="1043004"/>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921258" y="631156"/>
            <a:ext cx="3394476" cy="1857704"/>
          </a:xfrm>
          <a:custGeom>
            <a:avLst/>
            <a:gdLst/>
            <a:ahLst/>
            <a:cxnLst/>
            <a:rect l="l" t="t" r="r" b="b"/>
            <a:pathLst>
              <a:path w="3394476" h="1857704">
                <a:moveTo>
                  <a:pt x="0" y="0"/>
                </a:moveTo>
                <a:lnTo>
                  <a:pt x="3394475" y="0"/>
                </a:lnTo>
                <a:lnTo>
                  <a:pt x="3394475"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5400000">
            <a:off x="7174582" y="10026686"/>
            <a:ext cx="3394476" cy="1857704"/>
          </a:xfrm>
          <a:custGeom>
            <a:avLst/>
            <a:gdLst/>
            <a:ahLst/>
            <a:cxnLst/>
            <a:rect l="l" t="t" r="r" b="b"/>
            <a:pathLst>
              <a:path w="3394476" h="1857704">
                <a:moveTo>
                  <a:pt x="0" y="0"/>
                </a:moveTo>
                <a:lnTo>
                  <a:pt x="3394475" y="0"/>
                </a:lnTo>
                <a:lnTo>
                  <a:pt x="3394475"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10294267" y="2845597"/>
            <a:ext cx="6636544" cy="4595806"/>
          </a:xfrm>
          <a:custGeom>
            <a:avLst/>
            <a:gdLst/>
            <a:ahLst/>
            <a:cxnLst/>
            <a:rect l="l" t="t" r="r" b="b"/>
            <a:pathLst>
              <a:path w="6636544" h="4595806">
                <a:moveTo>
                  <a:pt x="0" y="0"/>
                </a:moveTo>
                <a:lnTo>
                  <a:pt x="6636543" y="0"/>
                </a:lnTo>
                <a:lnTo>
                  <a:pt x="6636543" y="4595806"/>
                </a:lnTo>
                <a:lnTo>
                  <a:pt x="0" y="4595806"/>
                </a:lnTo>
                <a:lnTo>
                  <a:pt x="0" y="0"/>
                </a:lnTo>
                <a:close/>
              </a:path>
            </a:pathLst>
          </a:custGeom>
          <a:blipFill>
            <a:blip r:embed="rId4"/>
            <a:stretch>
              <a:fillRect/>
            </a:stretch>
          </a:blipFill>
        </p:spPr>
        <p:txBody>
          <a:bodyPr/>
          <a:lstStyle/>
          <a:p>
            <a:endParaRPr lang="zh-CN" altLang="en-US"/>
          </a:p>
        </p:txBody>
      </p:sp>
      <p:sp>
        <p:nvSpPr>
          <p:cNvPr id="12" name="TextBox 12"/>
          <p:cNvSpPr txBox="1"/>
          <p:nvPr/>
        </p:nvSpPr>
        <p:spPr>
          <a:xfrm>
            <a:off x="2230823" y="1964750"/>
            <a:ext cx="8846712" cy="1223654"/>
          </a:xfrm>
          <a:prstGeom prst="rect">
            <a:avLst/>
          </a:prstGeom>
        </p:spPr>
        <p:txBody>
          <a:bodyPr lIns="0" tIns="0" rIns="0" bIns="0" rtlCol="0" anchor="t">
            <a:spAutoFit/>
          </a:bodyPr>
          <a:lstStyle/>
          <a:p>
            <a:pPr algn="l">
              <a:lnSpc>
                <a:spcPts val="8215"/>
              </a:lnSpc>
            </a:pPr>
            <a:r>
              <a:rPr lang="en-US" sz="7750">
                <a:solidFill>
                  <a:srgbClr val="000000"/>
                </a:solidFill>
                <a:latin typeface="Retropix"/>
                <a:ea typeface="Retropix"/>
                <a:cs typeface="Retropix"/>
                <a:sym typeface="Retropix"/>
              </a:rPr>
              <a:t>GAME PAGE</a:t>
            </a:r>
          </a:p>
        </p:txBody>
      </p:sp>
      <p:sp>
        <p:nvSpPr>
          <p:cNvPr id="13" name="TextBox 13"/>
          <p:cNvSpPr txBox="1"/>
          <p:nvPr/>
        </p:nvSpPr>
        <p:spPr>
          <a:xfrm>
            <a:off x="2230823" y="5374314"/>
            <a:ext cx="6291526" cy="1973932"/>
          </a:xfrm>
          <a:prstGeom prst="rect">
            <a:avLst/>
          </a:prstGeom>
        </p:spPr>
        <p:txBody>
          <a:bodyPr lIns="0" tIns="0" rIns="0" bIns="0" rtlCol="0" anchor="t">
            <a:spAutoFit/>
          </a:bodyPr>
          <a:lstStyle/>
          <a:p>
            <a:pPr algn="l">
              <a:lnSpc>
                <a:spcPts val="3929"/>
              </a:lnSpc>
            </a:pPr>
            <a:r>
              <a:rPr lang="en-US" sz="2976">
                <a:solidFill>
                  <a:srgbClr val="FFFFFF"/>
                </a:solidFill>
                <a:latin typeface="Inter"/>
                <a:ea typeface="Inter"/>
                <a:cs typeface="Inter"/>
                <a:sym typeface="Inter"/>
              </a:rPr>
              <a:t>The game system consists of ten levels, each with unique train track puzzles that gradually increase in difficulty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2571060" y="1716209"/>
            <a:ext cx="13776863" cy="7512553"/>
            <a:chOff x="0" y="0"/>
            <a:chExt cx="3628474" cy="1978615"/>
          </a:xfrm>
        </p:grpSpPr>
        <p:sp>
          <p:nvSpPr>
            <p:cNvPr id="4" name="Freeform 4"/>
            <p:cNvSpPr/>
            <p:nvPr/>
          </p:nvSpPr>
          <p:spPr>
            <a:xfrm>
              <a:off x="0" y="0"/>
              <a:ext cx="3628474" cy="1978615"/>
            </a:xfrm>
            <a:custGeom>
              <a:avLst/>
              <a:gdLst/>
              <a:ahLst/>
              <a:cxnLst/>
              <a:rect l="l" t="t" r="r" b="b"/>
              <a:pathLst>
                <a:path w="3628474" h="1978615">
                  <a:moveTo>
                    <a:pt x="0" y="0"/>
                  </a:moveTo>
                  <a:lnTo>
                    <a:pt x="3628474" y="0"/>
                  </a:lnTo>
                  <a:lnTo>
                    <a:pt x="3628474" y="1978615"/>
                  </a:lnTo>
                  <a:lnTo>
                    <a:pt x="0" y="1978615"/>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3628474" cy="20167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243817" y="1387224"/>
            <a:ext cx="13776863" cy="7512553"/>
            <a:chOff x="0" y="0"/>
            <a:chExt cx="3628474" cy="1978615"/>
          </a:xfrm>
        </p:grpSpPr>
        <p:sp>
          <p:nvSpPr>
            <p:cNvPr id="7" name="Freeform 7"/>
            <p:cNvSpPr/>
            <p:nvPr/>
          </p:nvSpPr>
          <p:spPr>
            <a:xfrm>
              <a:off x="0" y="0"/>
              <a:ext cx="3628474" cy="1978615"/>
            </a:xfrm>
            <a:custGeom>
              <a:avLst/>
              <a:gdLst/>
              <a:ahLst/>
              <a:cxnLst/>
              <a:rect l="l" t="t" r="r" b="b"/>
              <a:pathLst>
                <a:path w="3628474" h="1978615">
                  <a:moveTo>
                    <a:pt x="0" y="0"/>
                  </a:moveTo>
                  <a:lnTo>
                    <a:pt x="3628474" y="0"/>
                  </a:lnTo>
                  <a:lnTo>
                    <a:pt x="3628474" y="1978615"/>
                  </a:lnTo>
                  <a:lnTo>
                    <a:pt x="0" y="1978615"/>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3628474" cy="201671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697238" y="7144587"/>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1429370"/>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1028700" y="1028700"/>
            <a:ext cx="2493214" cy="2493214"/>
          </a:xfrm>
          <a:custGeom>
            <a:avLst/>
            <a:gdLst/>
            <a:ahLst/>
            <a:cxnLst/>
            <a:rect l="l" t="t" r="r" b="b"/>
            <a:pathLst>
              <a:path w="2493214" h="2493214">
                <a:moveTo>
                  <a:pt x="0" y="0"/>
                </a:moveTo>
                <a:lnTo>
                  <a:pt x="2493214" y="0"/>
                </a:lnTo>
                <a:lnTo>
                  <a:pt x="2493214" y="2493214"/>
                </a:lnTo>
                <a:lnTo>
                  <a:pt x="0" y="249321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Freeform 12"/>
          <p:cNvSpPr/>
          <p:nvPr/>
        </p:nvSpPr>
        <p:spPr>
          <a:xfrm>
            <a:off x="14534354" y="6390107"/>
            <a:ext cx="2724946" cy="2724946"/>
          </a:xfrm>
          <a:custGeom>
            <a:avLst/>
            <a:gdLst/>
            <a:ahLst/>
            <a:cxnLst/>
            <a:rect l="l" t="t" r="r" b="b"/>
            <a:pathLst>
              <a:path w="2724946" h="2724946">
                <a:moveTo>
                  <a:pt x="0" y="0"/>
                </a:moveTo>
                <a:lnTo>
                  <a:pt x="2724946" y="0"/>
                </a:lnTo>
                <a:lnTo>
                  <a:pt x="2724946" y="2724946"/>
                </a:lnTo>
                <a:lnTo>
                  <a:pt x="0" y="27249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3" name="Freeform 13"/>
          <p:cNvSpPr/>
          <p:nvPr/>
        </p:nvSpPr>
        <p:spPr>
          <a:xfrm>
            <a:off x="4166981" y="1716209"/>
            <a:ext cx="10367373" cy="6688392"/>
          </a:xfrm>
          <a:custGeom>
            <a:avLst/>
            <a:gdLst/>
            <a:ahLst/>
            <a:cxnLst/>
            <a:rect l="l" t="t" r="r" b="b"/>
            <a:pathLst>
              <a:path w="10367373" h="6688392">
                <a:moveTo>
                  <a:pt x="0" y="0"/>
                </a:moveTo>
                <a:lnTo>
                  <a:pt x="10367373" y="0"/>
                </a:lnTo>
                <a:lnTo>
                  <a:pt x="10367373" y="6688392"/>
                </a:lnTo>
                <a:lnTo>
                  <a:pt x="0" y="6688392"/>
                </a:lnTo>
                <a:lnTo>
                  <a:pt x="0" y="0"/>
                </a:lnTo>
                <a:close/>
              </a:path>
            </a:pathLst>
          </a:custGeom>
          <a:blipFill>
            <a:blip r:embed="rId6"/>
            <a:stretch>
              <a:fillRect t="-1722"/>
            </a:stretch>
          </a:blipFill>
        </p:spPr>
        <p:txBody>
          <a:bodyPr/>
          <a:lstStyle/>
          <a:p>
            <a:endParaRPr lang="zh-CN" altLang="en-US"/>
          </a:p>
        </p:txBody>
      </p:sp>
      <p:sp>
        <p:nvSpPr>
          <p:cNvPr id="14" name="TextBox 14"/>
          <p:cNvSpPr txBox="1"/>
          <p:nvPr/>
        </p:nvSpPr>
        <p:spPr>
          <a:xfrm>
            <a:off x="4166981" y="1391270"/>
            <a:ext cx="10367373" cy="2617527"/>
          </a:xfrm>
          <a:prstGeom prst="rect">
            <a:avLst/>
          </a:prstGeom>
        </p:spPr>
        <p:txBody>
          <a:bodyPr lIns="0" tIns="0" rIns="0" bIns="0" rtlCol="0" anchor="t">
            <a:spAutoFit/>
          </a:bodyPr>
          <a:lstStyle/>
          <a:p>
            <a:pPr algn="ctr">
              <a:lnSpc>
                <a:spcPts val="4193"/>
              </a:lnSpc>
            </a:pPr>
            <a:r>
              <a:rPr lang="en-US" sz="3176">
                <a:solidFill>
                  <a:srgbClr val="FFFFFF"/>
                </a:solidFill>
                <a:latin typeface="Inter"/>
                <a:ea typeface="Inter"/>
                <a:cs typeface="Inter"/>
                <a:sym typeface="Inter"/>
              </a:rPr>
              <a:t>In addition to the level-based mode, we've also designed an endless mode, allowing players to keep challenging themselves until they fail. This caters to both casual players and those seeking a more challenging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8652819" y="2188050"/>
            <a:ext cx="7695104" cy="6883432"/>
            <a:chOff x="0" y="0"/>
            <a:chExt cx="2026694" cy="1812920"/>
          </a:xfrm>
        </p:grpSpPr>
        <p:sp>
          <p:nvSpPr>
            <p:cNvPr id="4" name="Freeform 4"/>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324110" y="1873489"/>
            <a:ext cx="7695104" cy="6883432"/>
            <a:chOff x="0" y="0"/>
            <a:chExt cx="2026694" cy="1812920"/>
          </a:xfrm>
        </p:grpSpPr>
        <p:sp>
          <p:nvSpPr>
            <p:cNvPr id="7" name="Freeform 7"/>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235136" y="1312149"/>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7631269"/>
            <a:ext cx="3394476" cy="1857704"/>
          </a:xfrm>
          <a:custGeom>
            <a:avLst/>
            <a:gdLst/>
            <a:ahLst/>
            <a:cxnLst/>
            <a:rect l="l" t="t" r="r" b="b"/>
            <a:pathLst>
              <a:path w="3394476" h="1857704">
                <a:moveTo>
                  <a:pt x="0" y="0"/>
                </a:moveTo>
                <a:lnTo>
                  <a:pt x="3394476" y="0"/>
                </a:lnTo>
                <a:lnTo>
                  <a:pt x="3394476" y="1857703"/>
                </a:lnTo>
                <a:lnTo>
                  <a:pt x="0" y="18577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444771" y="7734975"/>
            <a:ext cx="2946941" cy="3046650"/>
          </a:xfrm>
          <a:custGeom>
            <a:avLst/>
            <a:gdLst/>
            <a:ahLst/>
            <a:cxnLst/>
            <a:rect l="l" t="t" r="r" b="b"/>
            <a:pathLst>
              <a:path w="2946941" h="3046650">
                <a:moveTo>
                  <a:pt x="0" y="0"/>
                </a:moveTo>
                <a:lnTo>
                  <a:pt x="2946942" y="0"/>
                </a:lnTo>
                <a:lnTo>
                  <a:pt x="2946942" y="3046650"/>
                </a:lnTo>
                <a:lnTo>
                  <a:pt x="0" y="30466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TextBox 12"/>
          <p:cNvSpPr txBox="1"/>
          <p:nvPr/>
        </p:nvSpPr>
        <p:spPr>
          <a:xfrm>
            <a:off x="9144000" y="3796399"/>
            <a:ext cx="5546540" cy="1626079"/>
          </a:xfrm>
          <a:prstGeom prst="rect">
            <a:avLst/>
          </a:prstGeom>
        </p:spPr>
        <p:txBody>
          <a:bodyPr lIns="0" tIns="0" rIns="0" bIns="0" rtlCol="0" anchor="t">
            <a:spAutoFit/>
          </a:bodyPr>
          <a:lstStyle/>
          <a:p>
            <a:pPr algn="ctr">
              <a:lnSpc>
                <a:spcPts val="6521"/>
              </a:lnSpc>
            </a:pPr>
            <a:r>
              <a:rPr lang="en-US" sz="4940">
                <a:solidFill>
                  <a:srgbClr val="FFFFFF"/>
                </a:solidFill>
                <a:latin typeface="Inter"/>
                <a:ea typeface="Inter"/>
                <a:cs typeface="Inter"/>
                <a:sym typeface="Inter"/>
              </a:rPr>
              <a:t>Responsible for backend</a:t>
            </a:r>
          </a:p>
        </p:txBody>
      </p:sp>
      <p:sp>
        <p:nvSpPr>
          <p:cNvPr id="13" name="Freeform 13"/>
          <p:cNvSpPr/>
          <p:nvPr/>
        </p:nvSpPr>
        <p:spPr>
          <a:xfrm>
            <a:off x="5671763" y="1042824"/>
            <a:ext cx="936193" cy="887460"/>
          </a:xfrm>
          <a:custGeom>
            <a:avLst/>
            <a:gdLst/>
            <a:ahLst/>
            <a:cxnLst/>
            <a:rect l="l" t="t" r="r" b="b"/>
            <a:pathLst>
              <a:path w="936193" h="887460">
                <a:moveTo>
                  <a:pt x="0" y="0"/>
                </a:moveTo>
                <a:lnTo>
                  <a:pt x="936194" y="0"/>
                </a:lnTo>
                <a:lnTo>
                  <a:pt x="936194" y="887460"/>
                </a:lnTo>
                <a:lnTo>
                  <a:pt x="0" y="88746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4" name="Freeform 14"/>
          <p:cNvSpPr/>
          <p:nvPr/>
        </p:nvSpPr>
        <p:spPr>
          <a:xfrm>
            <a:off x="5619363" y="5452098"/>
            <a:ext cx="889362" cy="887460"/>
          </a:xfrm>
          <a:custGeom>
            <a:avLst/>
            <a:gdLst/>
            <a:ahLst/>
            <a:cxnLst/>
            <a:rect l="l" t="t" r="r" b="b"/>
            <a:pathLst>
              <a:path w="889362" h="887460">
                <a:moveTo>
                  <a:pt x="0" y="0"/>
                </a:moveTo>
                <a:lnTo>
                  <a:pt x="889362" y="0"/>
                </a:lnTo>
                <a:lnTo>
                  <a:pt x="889362" y="887460"/>
                </a:lnTo>
                <a:lnTo>
                  <a:pt x="0" y="88746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15" name="Freeform 15"/>
          <p:cNvSpPr/>
          <p:nvPr/>
        </p:nvSpPr>
        <p:spPr>
          <a:xfrm>
            <a:off x="2502171" y="1042824"/>
            <a:ext cx="2800727" cy="4008626"/>
          </a:xfrm>
          <a:custGeom>
            <a:avLst/>
            <a:gdLst/>
            <a:ahLst/>
            <a:cxnLst/>
            <a:rect l="l" t="t" r="r" b="b"/>
            <a:pathLst>
              <a:path w="2800727" h="4008626">
                <a:moveTo>
                  <a:pt x="0" y="0"/>
                </a:moveTo>
                <a:lnTo>
                  <a:pt x="2800727" y="0"/>
                </a:lnTo>
                <a:lnTo>
                  <a:pt x="2800727" y="4008626"/>
                </a:lnTo>
                <a:lnTo>
                  <a:pt x="0" y="4008626"/>
                </a:lnTo>
                <a:lnTo>
                  <a:pt x="0" y="0"/>
                </a:lnTo>
                <a:close/>
              </a:path>
            </a:pathLst>
          </a:custGeom>
          <a:blipFill>
            <a:blip r:embed="rId7"/>
            <a:stretch>
              <a:fillRect t="-1576"/>
            </a:stretch>
          </a:blipFill>
        </p:spPr>
        <p:txBody>
          <a:bodyPr/>
          <a:lstStyle/>
          <a:p>
            <a:endParaRPr lang="zh-CN" altLang="en-US"/>
          </a:p>
        </p:txBody>
      </p:sp>
      <p:sp>
        <p:nvSpPr>
          <p:cNvPr id="16" name="Freeform 16"/>
          <p:cNvSpPr/>
          <p:nvPr/>
        </p:nvSpPr>
        <p:spPr>
          <a:xfrm>
            <a:off x="2502171" y="5452098"/>
            <a:ext cx="2694613" cy="4036874"/>
          </a:xfrm>
          <a:custGeom>
            <a:avLst/>
            <a:gdLst/>
            <a:ahLst/>
            <a:cxnLst/>
            <a:rect l="l" t="t" r="r" b="b"/>
            <a:pathLst>
              <a:path w="2694613" h="4036874">
                <a:moveTo>
                  <a:pt x="0" y="0"/>
                </a:moveTo>
                <a:lnTo>
                  <a:pt x="2694613" y="0"/>
                </a:lnTo>
                <a:lnTo>
                  <a:pt x="2694613" y="4036874"/>
                </a:lnTo>
                <a:lnTo>
                  <a:pt x="0" y="4036874"/>
                </a:lnTo>
                <a:lnTo>
                  <a:pt x="0" y="0"/>
                </a:lnTo>
                <a:close/>
              </a:path>
            </a:pathLst>
          </a:custGeom>
          <a:blipFill>
            <a:blip r:embed="rId8"/>
            <a:stretch>
              <a:fillRect/>
            </a:stretch>
          </a:blipFill>
        </p:spPr>
        <p:txBody>
          <a:bodyPr/>
          <a:lstStyle/>
          <a:p>
            <a:endParaRPr lang="zh-CN" altLang="en-US"/>
          </a:p>
        </p:txBody>
      </p:sp>
      <p:sp>
        <p:nvSpPr>
          <p:cNvPr id="17" name="TextBox 17"/>
          <p:cNvSpPr txBox="1"/>
          <p:nvPr/>
        </p:nvSpPr>
        <p:spPr>
          <a:xfrm>
            <a:off x="5671763" y="2017121"/>
            <a:ext cx="1673924" cy="349250"/>
          </a:xfrm>
          <a:prstGeom prst="rect">
            <a:avLst/>
          </a:prstGeom>
        </p:spPr>
        <p:txBody>
          <a:bodyPr lIns="0" tIns="0" rIns="0" bIns="0" rtlCol="0" anchor="t">
            <a:spAutoFit/>
          </a:bodyPr>
          <a:lstStyle/>
          <a:p>
            <a:pPr algn="ctr">
              <a:lnSpc>
                <a:spcPts val="2800"/>
              </a:lnSpc>
            </a:pPr>
            <a:r>
              <a:rPr lang="en-US" sz="2000" b="1">
                <a:solidFill>
                  <a:srgbClr val="343434"/>
                </a:solidFill>
                <a:latin typeface="DM Sans Bold"/>
                <a:ea typeface="DM Sans Bold"/>
                <a:cs typeface="DM Sans Bold"/>
                <a:sym typeface="DM Sans Bold"/>
              </a:rPr>
              <a:t>SEKI TOMOKI</a:t>
            </a:r>
          </a:p>
        </p:txBody>
      </p:sp>
      <p:sp>
        <p:nvSpPr>
          <p:cNvPr id="18" name="TextBox 18"/>
          <p:cNvSpPr txBox="1"/>
          <p:nvPr/>
        </p:nvSpPr>
        <p:spPr>
          <a:xfrm>
            <a:off x="5619363" y="6768861"/>
            <a:ext cx="2263867" cy="701675"/>
          </a:xfrm>
          <a:prstGeom prst="rect">
            <a:avLst/>
          </a:prstGeom>
        </p:spPr>
        <p:txBody>
          <a:bodyPr lIns="0" tIns="0" rIns="0" bIns="0" rtlCol="0" anchor="t">
            <a:spAutoFit/>
          </a:bodyPr>
          <a:lstStyle/>
          <a:p>
            <a:pPr marL="0" lvl="0" indent="0" algn="l">
              <a:lnSpc>
                <a:spcPts val="2800"/>
              </a:lnSpc>
              <a:spcBef>
                <a:spcPct val="0"/>
              </a:spcBef>
            </a:pPr>
            <a:r>
              <a:rPr lang="en-US" sz="2000" b="1">
                <a:solidFill>
                  <a:srgbClr val="343434"/>
                </a:solidFill>
                <a:latin typeface="DM Sans Bold"/>
                <a:ea typeface="DM Sans Bold"/>
                <a:cs typeface="DM Sans Bold"/>
                <a:sym typeface="DM Sans Bold"/>
              </a:rPr>
              <a:t>CHEN JOAQUIN ANTONIO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8652819" y="2188050"/>
            <a:ext cx="7695104" cy="6883432"/>
            <a:chOff x="0" y="0"/>
            <a:chExt cx="2026694" cy="1812920"/>
          </a:xfrm>
        </p:grpSpPr>
        <p:sp>
          <p:nvSpPr>
            <p:cNvPr id="4" name="Freeform 4"/>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324110" y="1873489"/>
            <a:ext cx="7695104" cy="6883432"/>
            <a:chOff x="0" y="0"/>
            <a:chExt cx="2026694" cy="1812920"/>
          </a:xfrm>
        </p:grpSpPr>
        <p:sp>
          <p:nvSpPr>
            <p:cNvPr id="7" name="Freeform 7"/>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235136" y="1312149"/>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7631269"/>
            <a:ext cx="3394476" cy="1857704"/>
          </a:xfrm>
          <a:custGeom>
            <a:avLst/>
            <a:gdLst/>
            <a:ahLst/>
            <a:cxnLst/>
            <a:rect l="l" t="t" r="r" b="b"/>
            <a:pathLst>
              <a:path w="3394476" h="1857704">
                <a:moveTo>
                  <a:pt x="0" y="0"/>
                </a:moveTo>
                <a:lnTo>
                  <a:pt x="3394476" y="0"/>
                </a:lnTo>
                <a:lnTo>
                  <a:pt x="3394476" y="1857703"/>
                </a:lnTo>
                <a:lnTo>
                  <a:pt x="0" y="18577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0" y="7734975"/>
            <a:ext cx="2946941" cy="3046650"/>
          </a:xfrm>
          <a:custGeom>
            <a:avLst/>
            <a:gdLst/>
            <a:ahLst/>
            <a:cxnLst/>
            <a:rect l="l" t="t" r="r" b="b"/>
            <a:pathLst>
              <a:path w="2946941" h="3046650">
                <a:moveTo>
                  <a:pt x="0" y="0"/>
                </a:moveTo>
                <a:lnTo>
                  <a:pt x="2946941" y="0"/>
                </a:lnTo>
                <a:lnTo>
                  <a:pt x="2946941" y="3046650"/>
                </a:lnTo>
                <a:lnTo>
                  <a:pt x="0" y="30466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Freeform 12"/>
          <p:cNvSpPr/>
          <p:nvPr/>
        </p:nvSpPr>
        <p:spPr>
          <a:xfrm>
            <a:off x="6307098" y="849322"/>
            <a:ext cx="3342979" cy="2048334"/>
          </a:xfrm>
          <a:custGeom>
            <a:avLst/>
            <a:gdLst/>
            <a:ahLst/>
            <a:cxnLst/>
            <a:rect l="l" t="t" r="r" b="b"/>
            <a:pathLst>
              <a:path w="3342979" h="2048334">
                <a:moveTo>
                  <a:pt x="0" y="0"/>
                </a:moveTo>
                <a:lnTo>
                  <a:pt x="3342979" y="0"/>
                </a:lnTo>
                <a:lnTo>
                  <a:pt x="3342979" y="2048334"/>
                </a:lnTo>
                <a:lnTo>
                  <a:pt x="0" y="204833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3" name="Freeform 13"/>
          <p:cNvSpPr/>
          <p:nvPr/>
        </p:nvSpPr>
        <p:spPr>
          <a:xfrm>
            <a:off x="548134" y="2987798"/>
            <a:ext cx="7430453" cy="6083684"/>
          </a:xfrm>
          <a:custGeom>
            <a:avLst/>
            <a:gdLst/>
            <a:ahLst/>
            <a:cxnLst/>
            <a:rect l="l" t="t" r="r" b="b"/>
            <a:pathLst>
              <a:path w="7430453" h="6083684">
                <a:moveTo>
                  <a:pt x="0" y="0"/>
                </a:moveTo>
                <a:lnTo>
                  <a:pt x="7430454" y="0"/>
                </a:lnTo>
                <a:lnTo>
                  <a:pt x="7430454" y="6083683"/>
                </a:lnTo>
                <a:lnTo>
                  <a:pt x="0" y="6083683"/>
                </a:lnTo>
                <a:lnTo>
                  <a:pt x="0" y="0"/>
                </a:lnTo>
                <a:close/>
              </a:path>
            </a:pathLst>
          </a:custGeom>
          <a:blipFill>
            <a:blip r:embed="rId6"/>
            <a:stretch>
              <a:fillRect/>
            </a:stretch>
          </a:blipFill>
        </p:spPr>
        <p:txBody>
          <a:bodyPr/>
          <a:lstStyle/>
          <a:p>
            <a:endParaRPr lang="zh-CN" altLang="en-US"/>
          </a:p>
        </p:txBody>
      </p:sp>
      <p:sp>
        <p:nvSpPr>
          <p:cNvPr id="14" name="TextBox 14"/>
          <p:cNvSpPr txBox="1"/>
          <p:nvPr/>
        </p:nvSpPr>
        <p:spPr>
          <a:xfrm>
            <a:off x="9650077" y="2586345"/>
            <a:ext cx="5675406" cy="5419619"/>
          </a:xfrm>
          <a:prstGeom prst="rect">
            <a:avLst/>
          </a:prstGeom>
        </p:spPr>
        <p:txBody>
          <a:bodyPr lIns="0" tIns="0" rIns="0" bIns="0" rtlCol="0" anchor="t">
            <a:spAutoFit/>
          </a:bodyPr>
          <a:lstStyle/>
          <a:p>
            <a:pPr algn="ctr">
              <a:lnSpc>
                <a:spcPts val="3605"/>
              </a:lnSpc>
            </a:pPr>
            <a:r>
              <a:rPr lang="en-US" sz="2731">
                <a:solidFill>
                  <a:srgbClr val="FFFFFF"/>
                </a:solidFill>
                <a:latin typeface="Inter"/>
                <a:ea typeface="Inter"/>
                <a:cs typeface="Inter"/>
                <a:sym typeface="Inter"/>
              </a:rPr>
              <a:t>On the backend, we implemented a leaderboard system. Scores in Endless Mode are automatically uploaded and recorded, and players can view their rankings on the leaderboard. The system also supports a search function, allowing players to enter their username to quickly find their own or other players' scores, enhancing interactivity and the sense of competition.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sp>
        <p:nvSpPr>
          <p:cNvPr id="3" name="Freeform 3"/>
          <p:cNvSpPr/>
          <p:nvPr/>
        </p:nvSpPr>
        <p:spPr>
          <a:xfrm rot="-10800000">
            <a:off x="-1921258" y="631156"/>
            <a:ext cx="3394476" cy="1857704"/>
          </a:xfrm>
          <a:custGeom>
            <a:avLst/>
            <a:gdLst/>
            <a:ahLst/>
            <a:cxnLst/>
            <a:rect l="l" t="t" r="r" b="b"/>
            <a:pathLst>
              <a:path w="3394476" h="1857704">
                <a:moveTo>
                  <a:pt x="0" y="0"/>
                </a:moveTo>
                <a:lnTo>
                  <a:pt x="3394475" y="0"/>
                </a:lnTo>
                <a:lnTo>
                  <a:pt x="3394475"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4" name="Freeform 4"/>
          <p:cNvSpPr/>
          <p:nvPr/>
        </p:nvSpPr>
        <p:spPr>
          <a:xfrm rot="-5400000">
            <a:off x="7174582" y="10026686"/>
            <a:ext cx="3394476" cy="1857704"/>
          </a:xfrm>
          <a:custGeom>
            <a:avLst/>
            <a:gdLst/>
            <a:ahLst/>
            <a:cxnLst/>
            <a:rect l="l" t="t" r="r" b="b"/>
            <a:pathLst>
              <a:path w="3394476" h="1857704">
                <a:moveTo>
                  <a:pt x="0" y="0"/>
                </a:moveTo>
                <a:lnTo>
                  <a:pt x="3394475" y="0"/>
                </a:lnTo>
                <a:lnTo>
                  <a:pt x="3394475"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5" name="Freeform 5"/>
          <p:cNvSpPr/>
          <p:nvPr/>
        </p:nvSpPr>
        <p:spPr>
          <a:xfrm>
            <a:off x="15881514" y="8022947"/>
            <a:ext cx="1551433" cy="1551433"/>
          </a:xfrm>
          <a:custGeom>
            <a:avLst/>
            <a:gdLst/>
            <a:ahLst/>
            <a:cxnLst/>
            <a:rect l="l" t="t" r="r" b="b"/>
            <a:pathLst>
              <a:path w="1551433" h="1551433">
                <a:moveTo>
                  <a:pt x="0" y="0"/>
                </a:moveTo>
                <a:lnTo>
                  <a:pt x="1551433" y="0"/>
                </a:lnTo>
                <a:lnTo>
                  <a:pt x="1551433" y="1551433"/>
                </a:lnTo>
                <a:lnTo>
                  <a:pt x="0" y="155143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6" name="Freeform 6"/>
          <p:cNvSpPr/>
          <p:nvPr/>
        </p:nvSpPr>
        <p:spPr>
          <a:xfrm>
            <a:off x="16435109" y="6467048"/>
            <a:ext cx="1367798" cy="1367798"/>
          </a:xfrm>
          <a:custGeom>
            <a:avLst/>
            <a:gdLst/>
            <a:ahLst/>
            <a:cxnLst/>
            <a:rect l="l" t="t" r="r" b="b"/>
            <a:pathLst>
              <a:path w="1367798" h="1367798">
                <a:moveTo>
                  <a:pt x="0" y="0"/>
                </a:moveTo>
                <a:lnTo>
                  <a:pt x="1367798" y="0"/>
                </a:lnTo>
                <a:lnTo>
                  <a:pt x="1367798" y="1367798"/>
                </a:lnTo>
                <a:lnTo>
                  <a:pt x="0" y="13677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7" name="Freeform 7"/>
          <p:cNvSpPr/>
          <p:nvPr/>
        </p:nvSpPr>
        <p:spPr>
          <a:xfrm>
            <a:off x="16470468" y="5143500"/>
            <a:ext cx="962479" cy="962479"/>
          </a:xfrm>
          <a:custGeom>
            <a:avLst/>
            <a:gdLst/>
            <a:ahLst/>
            <a:cxnLst/>
            <a:rect l="l" t="t" r="r" b="b"/>
            <a:pathLst>
              <a:path w="962479" h="962479">
                <a:moveTo>
                  <a:pt x="0" y="0"/>
                </a:moveTo>
                <a:lnTo>
                  <a:pt x="962479" y="0"/>
                </a:lnTo>
                <a:lnTo>
                  <a:pt x="962479" y="962479"/>
                </a:lnTo>
                <a:lnTo>
                  <a:pt x="0" y="96247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sp>
        <p:nvSpPr>
          <p:cNvPr id="8" name="Freeform 8"/>
          <p:cNvSpPr/>
          <p:nvPr/>
        </p:nvSpPr>
        <p:spPr>
          <a:xfrm>
            <a:off x="2074652" y="1363450"/>
            <a:ext cx="13759023" cy="7137493"/>
          </a:xfrm>
          <a:custGeom>
            <a:avLst/>
            <a:gdLst/>
            <a:ahLst/>
            <a:cxnLst/>
            <a:rect l="l" t="t" r="r" b="b"/>
            <a:pathLst>
              <a:path w="13759023" h="7137493">
                <a:moveTo>
                  <a:pt x="0" y="0"/>
                </a:moveTo>
                <a:lnTo>
                  <a:pt x="13759023" y="0"/>
                </a:lnTo>
                <a:lnTo>
                  <a:pt x="13759023" y="7137493"/>
                </a:lnTo>
                <a:lnTo>
                  <a:pt x="0" y="7137493"/>
                </a:lnTo>
                <a:lnTo>
                  <a:pt x="0" y="0"/>
                </a:lnTo>
                <a:close/>
              </a:path>
            </a:pathLst>
          </a:custGeom>
          <a:blipFill>
            <a:blip r:embed="rId7"/>
            <a:stretch>
              <a:fillRect/>
            </a:stretch>
          </a:blipFill>
        </p:spPr>
        <p:txBody>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8652819" y="2188050"/>
            <a:ext cx="7695104" cy="6883432"/>
            <a:chOff x="0" y="0"/>
            <a:chExt cx="2026694" cy="1812920"/>
          </a:xfrm>
        </p:grpSpPr>
        <p:sp>
          <p:nvSpPr>
            <p:cNvPr id="4" name="Freeform 4"/>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324110" y="1873489"/>
            <a:ext cx="7695104" cy="6883432"/>
            <a:chOff x="0" y="0"/>
            <a:chExt cx="2026694" cy="1812920"/>
          </a:xfrm>
        </p:grpSpPr>
        <p:sp>
          <p:nvSpPr>
            <p:cNvPr id="7" name="Freeform 7"/>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235136" y="1312149"/>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7631269"/>
            <a:ext cx="3394476" cy="1857704"/>
          </a:xfrm>
          <a:custGeom>
            <a:avLst/>
            <a:gdLst/>
            <a:ahLst/>
            <a:cxnLst/>
            <a:rect l="l" t="t" r="r" b="b"/>
            <a:pathLst>
              <a:path w="3394476" h="1857704">
                <a:moveTo>
                  <a:pt x="0" y="0"/>
                </a:moveTo>
                <a:lnTo>
                  <a:pt x="3394476" y="0"/>
                </a:lnTo>
                <a:lnTo>
                  <a:pt x="3394476" y="1857703"/>
                </a:lnTo>
                <a:lnTo>
                  <a:pt x="0" y="18577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444771" y="7734975"/>
            <a:ext cx="2946941" cy="3046650"/>
          </a:xfrm>
          <a:custGeom>
            <a:avLst/>
            <a:gdLst/>
            <a:ahLst/>
            <a:cxnLst/>
            <a:rect l="l" t="t" r="r" b="b"/>
            <a:pathLst>
              <a:path w="2946941" h="3046650">
                <a:moveTo>
                  <a:pt x="0" y="0"/>
                </a:moveTo>
                <a:lnTo>
                  <a:pt x="2946942" y="0"/>
                </a:lnTo>
                <a:lnTo>
                  <a:pt x="2946942" y="3046650"/>
                </a:lnTo>
                <a:lnTo>
                  <a:pt x="0" y="30466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TextBox 12"/>
          <p:cNvSpPr txBox="1"/>
          <p:nvPr/>
        </p:nvSpPr>
        <p:spPr>
          <a:xfrm>
            <a:off x="9144000" y="3796399"/>
            <a:ext cx="5546540" cy="3260777"/>
          </a:xfrm>
          <a:prstGeom prst="rect">
            <a:avLst/>
          </a:prstGeom>
        </p:spPr>
        <p:txBody>
          <a:bodyPr lIns="0" tIns="0" rIns="0" bIns="0" rtlCol="0" anchor="t">
            <a:spAutoFit/>
          </a:bodyPr>
          <a:lstStyle/>
          <a:p>
            <a:pPr algn="ctr">
              <a:lnSpc>
                <a:spcPts val="6521"/>
              </a:lnSpc>
            </a:pPr>
            <a:r>
              <a:rPr lang="en-US" sz="4940">
                <a:solidFill>
                  <a:srgbClr val="FFFFFF"/>
                </a:solidFill>
                <a:latin typeface="Inter"/>
                <a:ea typeface="Inter"/>
                <a:cs typeface="Inter"/>
                <a:sym typeface="Inter"/>
              </a:rPr>
              <a:t>Responsible for leaderboard mechanism and search system</a:t>
            </a:r>
          </a:p>
        </p:txBody>
      </p:sp>
      <p:sp>
        <p:nvSpPr>
          <p:cNvPr id="13" name="Freeform 13"/>
          <p:cNvSpPr/>
          <p:nvPr/>
        </p:nvSpPr>
        <p:spPr>
          <a:xfrm>
            <a:off x="5619363" y="4199045"/>
            <a:ext cx="889362" cy="887460"/>
          </a:xfrm>
          <a:custGeom>
            <a:avLst/>
            <a:gdLst/>
            <a:ahLst/>
            <a:cxnLst/>
            <a:rect l="l" t="t" r="r" b="b"/>
            <a:pathLst>
              <a:path w="889362" h="887460">
                <a:moveTo>
                  <a:pt x="0" y="0"/>
                </a:moveTo>
                <a:lnTo>
                  <a:pt x="889362" y="0"/>
                </a:lnTo>
                <a:lnTo>
                  <a:pt x="889362" y="887460"/>
                </a:lnTo>
                <a:lnTo>
                  <a:pt x="0" y="88746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4" name="Freeform 14"/>
          <p:cNvSpPr/>
          <p:nvPr/>
        </p:nvSpPr>
        <p:spPr>
          <a:xfrm>
            <a:off x="2683494" y="3863074"/>
            <a:ext cx="2697744" cy="3778075"/>
          </a:xfrm>
          <a:custGeom>
            <a:avLst/>
            <a:gdLst/>
            <a:ahLst/>
            <a:cxnLst/>
            <a:rect l="l" t="t" r="r" b="b"/>
            <a:pathLst>
              <a:path w="2697744" h="3778075">
                <a:moveTo>
                  <a:pt x="0" y="0"/>
                </a:moveTo>
                <a:lnTo>
                  <a:pt x="2697744" y="0"/>
                </a:lnTo>
                <a:lnTo>
                  <a:pt x="2697744" y="3778074"/>
                </a:lnTo>
                <a:lnTo>
                  <a:pt x="0" y="3778074"/>
                </a:lnTo>
                <a:lnTo>
                  <a:pt x="0" y="0"/>
                </a:lnTo>
                <a:close/>
              </a:path>
            </a:pathLst>
          </a:custGeom>
          <a:blipFill>
            <a:blip r:embed="rId6"/>
            <a:stretch>
              <a:fillRect t="-5676" b="-5676"/>
            </a:stretch>
          </a:blipFill>
        </p:spPr>
        <p:txBody>
          <a:bodyPr/>
          <a:lstStyle/>
          <a:p>
            <a:endParaRPr lang="zh-CN" altLang="en-US"/>
          </a:p>
        </p:txBody>
      </p:sp>
      <p:sp>
        <p:nvSpPr>
          <p:cNvPr id="15" name="TextBox 15"/>
          <p:cNvSpPr txBox="1"/>
          <p:nvPr/>
        </p:nvSpPr>
        <p:spPr>
          <a:xfrm>
            <a:off x="5619363" y="5280516"/>
            <a:ext cx="1673924" cy="349250"/>
          </a:xfrm>
          <a:prstGeom prst="rect">
            <a:avLst/>
          </a:prstGeom>
        </p:spPr>
        <p:txBody>
          <a:bodyPr lIns="0" tIns="0" rIns="0" bIns="0" rtlCol="0" anchor="t">
            <a:spAutoFit/>
          </a:bodyPr>
          <a:lstStyle/>
          <a:p>
            <a:pPr algn="l">
              <a:lnSpc>
                <a:spcPts val="2800"/>
              </a:lnSpc>
            </a:pPr>
            <a:r>
              <a:rPr lang="en-US" sz="2000" b="1">
                <a:solidFill>
                  <a:srgbClr val="343434"/>
                </a:solidFill>
                <a:latin typeface="DM Sans Bold"/>
                <a:ea typeface="DM Sans Bold"/>
                <a:cs typeface="DM Sans Bold"/>
                <a:sym typeface="DM Sans Bold"/>
              </a:rPr>
              <a:t>URIEL WULI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2571060" y="1716209"/>
            <a:ext cx="13776863" cy="7512553"/>
            <a:chOff x="0" y="0"/>
            <a:chExt cx="3628474" cy="1978615"/>
          </a:xfrm>
        </p:grpSpPr>
        <p:sp>
          <p:nvSpPr>
            <p:cNvPr id="4" name="Freeform 4"/>
            <p:cNvSpPr/>
            <p:nvPr/>
          </p:nvSpPr>
          <p:spPr>
            <a:xfrm>
              <a:off x="0" y="0"/>
              <a:ext cx="3628474" cy="1978615"/>
            </a:xfrm>
            <a:custGeom>
              <a:avLst/>
              <a:gdLst/>
              <a:ahLst/>
              <a:cxnLst/>
              <a:rect l="l" t="t" r="r" b="b"/>
              <a:pathLst>
                <a:path w="3628474" h="1978615">
                  <a:moveTo>
                    <a:pt x="0" y="0"/>
                  </a:moveTo>
                  <a:lnTo>
                    <a:pt x="3628474" y="0"/>
                  </a:lnTo>
                  <a:lnTo>
                    <a:pt x="3628474" y="1978615"/>
                  </a:lnTo>
                  <a:lnTo>
                    <a:pt x="0" y="1978615"/>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3628474" cy="20167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2243817" y="1387224"/>
            <a:ext cx="13776863" cy="7512553"/>
            <a:chOff x="0" y="0"/>
            <a:chExt cx="3628474" cy="1978615"/>
          </a:xfrm>
        </p:grpSpPr>
        <p:sp>
          <p:nvSpPr>
            <p:cNvPr id="7" name="Freeform 7"/>
            <p:cNvSpPr/>
            <p:nvPr/>
          </p:nvSpPr>
          <p:spPr>
            <a:xfrm>
              <a:off x="0" y="0"/>
              <a:ext cx="3628474" cy="1978615"/>
            </a:xfrm>
            <a:custGeom>
              <a:avLst/>
              <a:gdLst/>
              <a:ahLst/>
              <a:cxnLst/>
              <a:rect l="l" t="t" r="r" b="b"/>
              <a:pathLst>
                <a:path w="3628474" h="1978615">
                  <a:moveTo>
                    <a:pt x="0" y="0"/>
                  </a:moveTo>
                  <a:lnTo>
                    <a:pt x="3628474" y="0"/>
                  </a:lnTo>
                  <a:lnTo>
                    <a:pt x="3628474" y="1978615"/>
                  </a:lnTo>
                  <a:lnTo>
                    <a:pt x="0" y="1978615"/>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3628474" cy="201671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697238" y="7144587"/>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1429370"/>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1679203" y="824352"/>
            <a:ext cx="1783714" cy="1783714"/>
          </a:xfrm>
          <a:custGeom>
            <a:avLst/>
            <a:gdLst/>
            <a:ahLst/>
            <a:cxnLst/>
            <a:rect l="l" t="t" r="r" b="b"/>
            <a:pathLst>
              <a:path w="1783714" h="1783714">
                <a:moveTo>
                  <a:pt x="0" y="0"/>
                </a:moveTo>
                <a:lnTo>
                  <a:pt x="1783714" y="0"/>
                </a:lnTo>
                <a:lnTo>
                  <a:pt x="1783714" y="1783714"/>
                </a:lnTo>
                <a:lnTo>
                  <a:pt x="0" y="178371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Freeform 12"/>
          <p:cNvSpPr/>
          <p:nvPr/>
        </p:nvSpPr>
        <p:spPr>
          <a:xfrm>
            <a:off x="14524345" y="6229880"/>
            <a:ext cx="2802223" cy="2802223"/>
          </a:xfrm>
          <a:custGeom>
            <a:avLst/>
            <a:gdLst/>
            <a:ahLst/>
            <a:cxnLst/>
            <a:rect l="l" t="t" r="r" b="b"/>
            <a:pathLst>
              <a:path w="2802223" h="2802223">
                <a:moveTo>
                  <a:pt x="0" y="0"/>
                </a:moveTo>
                <a:lnTo>
                  <a:pt x="2802223" y="0"/>
                </a:lnTo>
                <a:lnTo>
                  <a:pt x="2802223" y="2802223"/>
                </a:lnTo>
                <a:lnTo>
                  <a:pt x="0" y="280222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3" name="Freeform 13"/>
          <p:cNvSpPr/>
          <p:nvPr/>
        </p:nvSpPr>
        <p:spPr>
          <a:xfrm>
            <a:off x="3493371" y="2304059"/>
            <a:ext cx="11301259" cy="5678883"/>
          </a:xfrm>
          <a:custGeom>
            <a:avLst/>
            <a:gdLst/>
            <a:ahLst/>
            <a:cxnLst/>
            <a:rect l="l" t="t" r="r" b="b"/>
            <a:pathLst>
              <a:path w="11301259" h="5678883">
                <a:moveTo>
                  <a:pt x="0" y="0"/>
                </a:moveTo>
                <a:lnTo>
                  <a:pt x="11301258" y="0"/>
                </a:lnTo>
                <a:lnTo>
                  <a:pt x="11301258" y="5678882"/>
                </a:lnTo>
                <a:lnTo>
                  <a:pt x="0" y="5678882"/>
                </a:lnTo>
                <a:lnTo>
                  <a:pt x="0" y="0"/>
                </a:lnTo>
                <a:close/>
              </a:path>
            </a:pathLst>
          </a:custGeom>
          <a:blipFill>
            <a:blip r:embed="rId6"/>
            <a:stretch>
              <a:fillRect/>
            </a:stretch>
          </a:blipFill>
        </p:spPr>
        <p:txBody>
          <a:bodyPr/>
          <a:lstStyle/>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845024" y="-5454452"/>
            <a:ext cx="10597952" cy="21195905"/>
          </a:xfrm>
          <a:custGeom>
            <a:avLst/>
            <a:gdLst/>
            <a:ahLst/>
            <a:cxnLst/>
            <a:rect l="l" t="t" r="r" b="b"/>
            <a:pathLst>
              <a:path w="10597952" h="21195905">
                <a:moveTo>
                  <a:pt x="0" y="0"/>
                </a:moveTo>
                <a:lnTo>
                  <a:pt x="10597952" y="0"/>
                </a:lnTo>
                <a:lnTo>
                  <a:pt x="10597952" y="21195904"/>
                </a:lnTo>
                <a:lnTo>
                  <a:pt x="0" y="21195904"/>
                </a:lnTo>
                <a:lnTo>
                  <a:pt x="0" y="0"/>
                </a:lnTo>
                <a:close/>
              </a:path>
            </a:pathLst>
          </a:custGeom>
          <a:blipFill>
            <a:blip>
              <a:alphaModFix amt="7999"/>
              <a:extLst>
                <a:ext uri="{96DAC541-7B7A-43D3-8B79-37D633B846F1}">
                  <asvg:svgBlip xmlns:asvg="http://schemas.microsoft.com/office/drawing/2016/SVG/main" r:embed="rId2"/>
                </a:ext>
              </a:extLst>
            </a:blip>
            <a:stretch>
              <a:fillRect/>
            </a:stretch>
          </a:blipFill>
        </p:spPr>
        <p:txBody>
          <a:bodyPr/>
          <a:lstStyle/>
          <a:p>
            <a:endParaRPr lang="zh-CN" altLang="en-US"/>
          </a:p>
        </p:txBody>
      </p:sp>
      <p:grpSp>
        <p:nvGrpSpPr>
          <p:cNvPr id="3" name="Group 3"/>
          <p:cNvGrpSpPr/>
          <p:nvPr/>
        </p:nvGrpSpPr>
        <p:grpSpPr>
          <a:xfrm>
            <a:off x="8652819" y="2188050"/>
            <a:ext cx="7695104" cy="6883432"/>
            <a:chOff x="0" y="0"/>
            <a:chExt cx="2026694" cy="1812920"/>
          </a:xfrm>
        </p:grpSpPr>
        <p:sp>
          <p:nvSpPr>
            <p:cNvPr id="4" name="Freeform 4"/>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000000"/>
            </a:solidFill>
            <a:ln w="76200" cap="sq">
              <a:solidFill>
                <a:srgbClr val="000000"/>
              </a:solidFill>
              <a:prstDash val="solid"/>
              <a:miter/>
            </a:ln>
          </p:spPr>
          <p:txBody>
            <a:bodyPr/>
            <a:lstStyle/>
            <a:p>
              <a:endParaRPr lang="zh-CN" altLang="en-US"/>
            </a:p>
          </p:txBody>
        </p:sp>
        <p:sp>
          <p:nvSpPr>
            <p:cNvPr id="5" name="TextBox 5"/>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324110" y="1873489"/>
            <a:ext cx="7695104" cy="6883432"/>
            <a:chOff x="0" y="0"/>
            <a:chExt cx="2026694" cy="1812920"/>
          </a:xfrm>
        </p:grpSpPr>
        <p:sp>
          <p:nvSpPr>
            <p:cNvPr id="7" name="Freeform 7"/>
            <p:cNvSpPr/>
            <p:nvPr/>
          </p:nvSpPr>
          <p:spPr>
            <a:xfrm>
              <a:off x="0" y="0"/>
              <a:ext cx="2026694" cy="1812920"/>
            </a:xfrm>
            <a:custGeom>
              <a:avLst/>
              <a:gdLst/>
              <a:ahLst/>
              <a:cxnLst/>
              <a:rect l="l" t="t" r="r" b="b"/>
              <a:pathLst>
                <a:path w="2026694" h="1812920">
                  <a:moveTo>
                    <a:pt x="0" y="0"/>
                  </a:moveTo>
                  <a:lnTo>
                    <a:pt x="2026694" y="0"/>
                  </a:lnTo>
                  <a:lnTo>
                    <a:pt x="2026694" y="1812920"/>
                  </a:lnTo>
                  <a:lnTo>
                    <a:pt x="0" y="1812920"/>
                  </a:lnTo>
                  <a:close/>
                </a:path>
              </a:pathLst>
            </a:custGeom>
            <a:solidFill>
              <a:srgbClr val="5E38DE"/>
            </a:solidFill>
            <a:ln w="76200" cap="sq">
              <a:solidFill>
                <a:srgbClr val="000000"/>
              </a:solidFill>
              <a:prstDash val="solid"/>
              <a:miter/>
            </a:ln>
          </p:spPr>
          <p:txBody>
            <a:bodyPr/>
            <a:lstStyle/>
            <a:p>
              <a:endParaRPr lang="zh-CN" altLang="en-US"/>
            </a:p>
          </p:txBody>
        </p:sp>
        <p:sp>
          <p:nvSpPr>
            <p:cNvPr id="8" name="TextBox 8"/>
            <p:cNvSpPr txBox="1"/>
            <p:nvPr/>
          </p:nvSpPr>
          <p:spPr>
            <a:xfrm>
              <a:off x="0" y="-38100"/>
              <a:ext cx="2026694" cy="185102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10800000">
            <a:off x="-1235136" y="1312149"/>
            <a:ext cx="3394476" cy="1857704"/>
          </a:xfrm>
          <a:custGeom>
            <a:avLst/>
            <a:gdLst/>
            <a:ahLst/>
            <a:cxnLst/>
            <a:rect l="l" t="t" r="r" b="b"/>
            <a:pathLst>
              <a:path w="3394476" h="1857704">
                <a:moveTo>
                  <a:pt x="0" y="0"/>
                </a:moveTo>
                <a:lnTo>
                  <a:pt x="3394476" y="0"/>
                </a:lnTo>
                <a:lnTo>
                  <a:pt x="3394476" y="1857704"/>
                </a:lnTo>
                <a:lnTo>
                  <a:pt x="0" y="185770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0" name="Freeform 10"/>
          <p:cNvSpPr/>
          <p:nvPr/>
        </p:nvSpPr>
        <p:spPr>
          <a:xfrm rot="-10800000">
            <a:off x="16590762" y="7631269"/>
            <a:ext cx="3394476" cy="1857704"/>
          </a:xfrm>
          <a:custGeom>
            <a:avLst/>
            <a:gdLst/>
            <a:ahLst/>
            <a:cxnLst/>
            <a:rect l="l" t="t" r="r" b="b"/>
            <a:pathLst>
              <a:path w="3394476" h="1857704">
                <a:moveTo>
                  <a:pt x="0" y="0"/>
                </a:moveTo>
                <a:lnTo>
                  <a:pt x="3394476" y="0"/>
                </a:lnTo>
                <a:lnTo>
                  <a:pt x="3394476" y="1857703"/>
                </a:lnTo>
                <a:lnTo>
                  <a:pt x="0" y="18577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1" name="Freeform 11"/>
          <p:cNvSpPr/>
          <p:nvPr/>
        </p:nvSpPr>
        <p:spPr>
          <a:xfrm>
            <a:off x="6215569" y="434844"/>
            <a:ext cx="2877290" cy="2877290"/>
          </a:xfrm>
          <a:custGeom>
            <a:avLst/>
            <a:gdLst/>
            <a:ahLst/>
            <a:cxnLst/>
            <a:rect l="l" t="t" r="r" b="b"/>
            <a:pathLst>
              <a:path w="2877290" h="2877290">
                <a:moveTo>
                  <a:pt x="0" y="0"/>
                </a:moveTo>
                <a:lnTo>
                  <a:pt x="2877291" y="0"/>
                </a:lnTo>
                <a:lnTo>
                  <a:pt x="2877291" y="2877290"/>
                </a:lnTo>
                <a:lnTo>
                  <a:pt x="0" y="287729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12" name="Freeform 12"/>
          <p:cNvSpPr/>
          <p:nvPr/>
        </p:nvSpPr>
        <p:spPr>
          <a:xfrm>
            <a:off x="462102" y="7460334"/>
            <a:ext cx="2631465" cy="2468793"/>
          </a:xfrm>
          <a:custGeom>
            <a:avLst/>
            <a:gdLst/>
            <a:ahLst/>
            <a:cxnLst/>
            <a:rect l="l" t="t" r="r" b="b"/>
            <a:pathLst>
              <a:path w="2631465" h="2468793">
                <a:moveTo>
                  <a:pt x="0" y="0"/>
                </a:moveTo>
                <a:lnTo>
                  <a:pt x="2631465" y="0"/>
                </a:lnTo>
                <a:lnTo>
                  <a:pt x="2631465" y="2468793"/>
                </a:lnTo>
                <a:lnTo>
                  <a:pt x="0" y="246879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3" name="TextBox 13"/>
          <p:cNvSpPr txBox="1"/>
          <p:nvPr/>
        </p:nvSpPr>
        <p:spPr>
          <a:xfrm>
            <a:off x="1777835" y="3065078"/>
            <a:ext cx="10308824" cy="4672080"/>
          </a:xfrm>
          <a:prstGeom prst="rect">
            <a:avLst/>
          </a:prstGeom>
        </p:spPr>
        <p:txBody>
          <a:bodyPr lIns="0" tIns="0" rIns="0" bIns="0" rtlCol="0" anchor="t">
            <a:spAutoFit/>
          </a:bodyPr>
          <a:lstStyle/>
          <a:p>
            <a:pPr algn="l">
              <a:lnSpc>
                <a:spcPts val="16946"/>
              </a:lnSpc>
            </a:pPr>
            <a:r>
              <a:rPr lang="en-US" sz="15986">
                <a:solidFill>
                  <a:srgbClr val="000000"/>
                </a:solidFill>
                <a:latin typeface="Retropix"/>
                <a:ea typeface="Retropix"/>
                <a:cs typeface="Retropix"/>
                <a:sym typeface="Retropix"/>
              </a:rPr>
              <a:t>THANK YOU！</a:t>
            </a:r>
          </a:p>
        </p:txBody>
      </p:sp>
      <p:sp>
        <p:nvSpPr>
          <p:cNvPr id="14" name="TextBox 14"/>
          <p:cNvSpPr txBox="1"/>
          <p:nvPr/>
        </p:nvSpPr>
        <p:spPr>
          <a:xfrm>
            <a:off x="9144000" y="4546532"/>
            <a:ext cx="6426224" cy="2910865"/>
          </a:xfrm>
          <a:prstGeom prst="rect">
            <a:avLst/>
          </a:prstGeom>
        </p:spPr>
        <p:txBody>
          <a:bodyPr lIns="0" tIns="0" rIns="0" bIns="0" rtlCol="0" anchor="t">
            <a:spAutoFit/>
          </a:bodyPr>
          <a:lstStyle/>
          <a:p>
            <a:pPr algn="l">
              <a:lnSpc>
                <a:spcPts val="10563"/>
              </a:lnSpc>
            </a:pPr>
            <a:r>
              <a:rPr lang="en-US" sz="9965">
                <a:solidFill>
                  <a:srgbClr val="FFFFFF"/>
                </a:solidFill>
                <a:latin typeface="Retropix"/>
                <a:ea typeface="Retropix"/>
                <a:cs typeface="Retropix"/>
                <a:sym typeface="Retropix"/>
              </a:rPr>
              <a:t>SPEAK BY JOHN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402</Words>
  <Application>Microsoft Office PowerPoint</Application>
  <PresentationFormat>自定义</PresentationFormat>
  <Paragraphs>26</Paragraphs>
  <Slides>14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14</vt:i4>
      </vt:variant>
    </vt:vector>
  </HeadingPairs>
  <TitlesOfParts>
    <vt:vector size="20" baseType="lpstr">
      <vt:lpstr>DM Sans Bold</vt:lpstr>
      <vt:lpstr>Arial</vt:lpstr>
      <vt:lpstr>Inter</vt:lpstr>
      <vt:lpstr>Retropix</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Retro Interface</dc:title>
  <dc:creator>Shadow Evoluzione</dc:creator>
  <cp:lastModifiedBy>Shadow Evoluzione</cp:lastModifiedBy>
  <cp:revision>1</cp:revision>
  <dcterms:created xsi:type="dcterms:W3CDTF">2006-08-16T00:00:00Z</dcterms:created>
  <dcterms:modified xsi:type="dcterms:W3CDTF">2026-05-10T09:48:14Z</dcterms:modified>
  <dc:identifier>DAHJMN1GsMU</dc:identifier>
</cp:coreProperties>
</file>